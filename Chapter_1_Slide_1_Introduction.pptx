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23-07-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30404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23-07-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036287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23-07-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810171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23-07-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373611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23-07-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32338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23-07-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427431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23-07-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052490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23-07-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043848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23-07-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60539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23-07-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977465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23-07-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559280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 smtClean="0"/>
              <a:t>23-07-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970163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artner.com/en/information-technology/glossary/internet-of-thing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iot-analytics.com/number-connected-iot-devices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otbusinessnews.com/2024/07/10/06205-enterprise-iot-market-size-reached-269-billion-in-2023-with-growth-deceleration-in-2024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hyperlink" Target="https://growthenabler.com/flipbook/pdf/IOT%20Report.pdf" TargetMode="Externa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l.bing.net/jncHHWgAj36" TargetMode="External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positphotos.com/126025652/stock-illustration-smart-city-concept-and-internet.html" TargetMode="External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medium.com/@globalindnews/north-america-accounted-for-major-share-in-the-global-smart-home-healthcare-market-in-2015-cc9cc1974ac5" TargetMode="External"/><Relationship Id="rId4" Type="http://schemas.openxmlformats.org/officeDocument/2006/relationships/image" Target="../media/image4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iot.fit-foxconn.com/" TargetMode="External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nmate.com/Solutions/Solutions_IoT.asp" TargetMode="External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" TargetMode="External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in.pinterest.com/pin/515380751093603767/?lp=true" TargetMode="External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-flair.training/blogs/iot-applications-in-agriculture/" TargetMode="External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49.png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image" Target="../media/image48.png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hyperlink" Target="https://transformainsights.com/research/reports/global-iot-forecast-report-2024-2034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682620"/>
            <a:ext cx="78867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00175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0D0D0D"/>
                </a:solidFill>
                <a:latin typeface="Times New Roman"/>
                <a:cs typeface="Times New Roman"/>
              </a:rPr>
              <a:t>Internet</a:t>
            </a:r>
            <a:r>
              <a:rPr sz="4400" b="1" spc="-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4400" b="1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sz="4400" b="1" spc="-9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4400" b="1" dirty="0">
                <a:solidFill>
                  <a:srgbClr val="0D0D0D"/>
                </a:solidFill>
                <a:latin typeface="Times New Roman"/>
                <a:cs typeface="Times New Roman"/>
              </a:rPr>
              <a:t>Things </a:t>
            </a:r>
            <a:r>
              <a:rPr sz="44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(IoT)</a:t>
            </a:r>
            <a:endParaRPr sz="4400" b="1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2320" y="1745106"/>
            <a:ext cx="5110480" cy="2020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lang="en-US" sz="4000" b="1" dirty="0">
                <a:solidFill>
                  <a:schemeClr val="tx1"/>
                </a:solidFill>
              </a:rPr>
              <a:t>Chapter 1</a:t>
            </a:r>
            <a:endParaRPr lang="en-US" sz="4000" b="1" spc="-10" dirty="0" smtClean="0">
              <a:solidFill>
                <a:schemeClr val="tx1"/>
              </a:solidFill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b="1" spc="-10" dirty="0" smtClean="0">
                <a:solidFill>
                  <a:srgbClr val="FF0000"/>
                </a:solidFill>
                <a:latin typeface="Calibri"/>
                <a:cs typeface="Calibri"/>
              </a:rPr>
              <a:t>Introduction</a:t>
            </a:r>
            <a:r>
              <a:rPr sz="4000" b="1" spc="-114" dirty="0" smtClean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4000" b="1" spc="-1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00" b="1" spc="-25" dirty="0">
                <a:solidFill>
                  <a:srgbClr val="FF0000"/>
                </a:solidFill>
                <a:latin typeface="Calibri"/>
                <a:cs typeface="Calibri"/>
              </a:rPr>
              <a:t>IoT</a:t>
            </a:r>
            <a:endParaRPr sz="40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33CC"/>
                </a:solidFill>
                <a:latin typeface="Calibri"/>
                <a:cs typeface="Calibri"/>
              </a:rPr>
              <a:t>Definitions,</a:t>
            </a:r>
            <a:r>
              <a:rPr sz="2400" b="1" spc="-10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Calibri"/>
                <a:cs typeface="Calibri"/>
              </a:rPr>
              <a:t>Characteristics,</a:t>
            </a:r>
            <a:r>
              <a:rPr sz="2400" b="1" spc="-11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b="1" spc="-10" dirty="0" smtClean="0">
                <a:solidFill>
                  <a:srgbClr val="0033CC"/>
                </a:solidFill>
                <a:latin typeface="Calibri"/>
                <a:cs typeface="Calibri"/>
              </a:rPr>
              <a:t>Applications</a:t>
            </a:r>
            <a:endParaRPr lang="en-US" sz="2400" b="1" spc="-10" dirty="0" smtClean="0">
              <a:solidFill>
                <a:srgbClr val="0033CC"/>
              </a:solidFill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10" dirty="0" smtClean="0">
                <a:solidFill>
                  <a:srgbClr val="0033CC"/>
                </a:solidFill>
                <a:latin typeface="Calibri"/>
                <a:cs typeface="Calibri"/>
              </a:rPr>
              <a:t>Course Code: </a:t>
            </a:r>
            <a:r>
              <a:rPr lang="en-US" sz="2400" b="1" dirty="0" smtClean="0">
                <a:latin typeface="+mn-lt"/>
              </a:rPr>
              <a:t>CSE0612405</a:t>
            </a:r>
            <a:endParaRPr sz="2400" b="1" dirty="0">
              <a:latin typeface="+mn-lt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15059" y="6112051"/>
            <a:ext cx="6323330" cy="375285"/>
            <a:chOff x="1255775" y="6487666"/>
            <a:chExt cx="6323330" cy="3752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5775" y="6487666"/>
              <a:ext cx="6323076" cy="37033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3019" y="6525767"/>
              <a:ext cx="6220967" cy="3322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03019" y="6525767"/>
              <a:ext cx="6221095" cy="332740"/>
            </a:xfrm>
            <a:custGeom>
              <a:avLst/>
              <a:gdLst/>
              <a:ahLst/>
              <a:cxnLst/>
              <a:rect l="l" t="t" r="r" b="b"/>
              <a:pathLst>
                <a:path w="6221095" h="332740">
                  <a:moveTo>
                    <a:pt x="6220967" y="332232"/>
                  </a:moveTo>
                  <a:lnTo>
                    <a:pt x="6220967" y="0"/>
                  </a:lnTo>
                  <a:lnTo>
                    <a:pt x="0" y="0"/>
                  </a:lnTo>
                  <a:lnTo>
                    <a:pt x="0" y="332232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52600" y="6172200"/>
            <a:ext cx="60401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Calibri"/>
                <a:cs typeface="Calibri"/>
              </a:rPr>
              <a:t>“</a:t>
            </a:r>
            <a:r>
              <a:rPr sz="1600" i="1" dirty="0">
                <a:latin typeface="Calibri"/>
                <a:cs typeface="Calibri"/>
              </a:rPr>
              <a:t>I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have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no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special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talent.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I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am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only</a:t>
            </a:r>
            <a:r>
              <a:rPr sz="1600" i="1" spc="-10" dirty="0">
                <a:latin typeface="Calibri"/>
                <a:cs typeface="Calibri"/>
              </a:rPr>
              <a:t> passionately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curious</a:t>
            </a:r>
            <a:r>
              <a:rPr sz="1600" dirty="0">
                <a:latin typeface="Calibri"/>
                <a:cs typeface="Calibri"/>
              </a:rPr>
              <a:t>.</a:t>
            </a:r>
            <a:r>
              <a:rPr sz="1200" dirty="0">
                <a:latin typeface="Calibri"/>
                <a:cs typeface="Calibri"/>
              </a:rPr>
              <a:t>”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–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Albert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Einstein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65564" y="467020"/>
            <a:ext cx="754379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44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44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IoT?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628650" y="1187089"/>
            <a:ext cx="8206105" cy="3276600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195"/>
              </a:spcBef>
              <a:buClr>
                <a:srgbClr val="4F81BC"/>
              </a:buClr>
              <a:buFont typeface="Wingdings"/>
              <a:buChar char=""/>
              <a:tabLst>
                <a:tab pos="353695" algn="l"/>
              </a:tabLst>
            </a:pPr>
            <a:r>
              <a:rPr sz="2600" dirty="0" smtClean="0">
                <a:latin typeface="Times New Roman"/>
                <a:cs typeface="Times New Roman"/>
              </a:rPr>
              <a:t>Internet</a:t>
            </a:r>
            <a:r>
              <a:rPr sz="2600" spc="-50" dirty="0" smtClean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Things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is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b="1" spc="-135" dirty="0">
                <a:solidFill>
                  <a:srgbClr val="C00000"/>
                </a:solidFill>
                <a:latin typeface="Times New Roman"/>
                <a:cs typeface="Times New Roman"/>
              </a:rPr>
              <a:t>network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26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65" dirty="0">
                <a:solidFill>
                  <a:srgbClr val="C00000"/>
                </a:solidFill>
                <a:latin typeface="Times New Roman"/>
                <a:cs typeface="Times New Roman"/>
              </a:rPr>
              <a:t>smart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20" dirty="0">
                <a:solidFill>
                  <a:srgbClr val="C00000"/>
                </a:solidFill>
                <a:latin typeface="Times New Roman"/>
                <a:cs typeface="Times New Roman"/>
              </a:rPr>
              <a:t>physical</a:t>
            </a:r>
            <a:r>
              <a:rPr sz="26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objects</a:t>
            </a:r>
            <a:endParaRPr sz="2600" dirty="0">
              <a:latin typeface="Times New Roman"/>
              <a:cs typeface="Times New Roman"/>
            </a:endParaRPr>
          </a:p>
          <a:p>
            <a:pPr marL="396240" marR="5080" lvl="1" indent="-182880">
              <a:lnSpc>
                <a:spcPct val="100000"/>
              </a:lnSpc>
              <a:spcBef>
                <a:spcPts val="840"/>
              </a:spcBef>
              <a:buClr>
                <a:srgbClr val="4F81BC"/>
              </a:buClr>
              <a:buFont typeface="Wingdings"/>
              <a:buChar char=""/>
              <a:tabLst>
                <a:tab pos="396240" algn="l"/>
              </a:tabLst>
            </a:pPr>
            <a:r>
              <a:rPr sz="2000" spc="-40" dirty="0">
                <a:latin typeface="Times New Roman"/>
                <a:cs typeface="Times New Roman"/>
              </a:rPr>
              <a:t>physical</a:t>
            </a:r>
            <a:r>
              <a:rPr sz="2000" spc="-25" dirty="0">
                <a:latin typeface="Times New Roman"/>
                <a:cs typeface="Times New Roman"/>
              </a:rPr>
              <a:t> objects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(e.g.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devices, </a:t>
            </a:r>
            <a:r>
              <a:rPr sz="2000" spc="-40" dirty="0">
                <a:latin typeface="Times New Roman"/>
                <a:cs typeface="Times New Roman"/>
              </a:rPr>
              <a:t>vehicles,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buildings, </a:t>
            </a:r>
            <a:r>
              <a:rPr sz="2000" spc="-20" dirty="0">
                <a:latin typeface="Times New Roman"/>
                <a:cs typeface="Times New Roman"/>
              </a:rPr>
              <a:t>etc.) 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embedded</a:t>
            </a:r>
            <a:r>
              <a:rPr sz="2000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60" dirty="0">
                <a:solidFill>
                  <a:srgbClr val="0000FF"/>
                </a:solidFill>
                <a:latin typeface="Times New Roman"/>
                <a:cs typeface="Times New Roman"/>
              </a:rPr>
              <a:t>with</a:t>
            </a:r>
            <a:r>
              <a:rPr sz="2000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sensors, </a:t>
            </a:r>
            <a:r>
              <a:rPr sz="2000" dirty="0">
                <a:latin typeface="Times New Roman"/>
                <a:cs typeface="Times New Roman"/>
              </a:rPr>
              <a:t>computation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unit,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unit,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power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network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connectivity,</a:t>
            </a:r>
            <a:endParaRPr sz="2000" dirty="0">
              <a:latin typeface="Times New Roman"/>
              <a:cs typeface="Times New Roman"/>
            </a:endParaRPr>
          </a:p>
          <a:p>
            <a:pPr marL="395605" lvl="1" indent="-182245">
              <a:lnSpc>
                <a:spcPct val="100000"/>
              </a:lnSpc>
              <a:spcBef>
                <a:spcPts val="1010"/>
              </a:spcBef>
              <a:buClr>
                <a:srgbClr val="4F81BC"/>
              </a:buClr>
              <a:buFont typeface="Wingdings"/>
              <a:buChar char=""/>
              <a:tabLst>
                <a:tab pos="395605" algn="l"/>
              </a:tabLst>
            </a:pPr>
            <a:r>
              <a:rPr sz="2000" spc="-40" dirty="0">
                <a:latin typeface="Times New Roman"/>
                <a:cs typeface="Times New Roman"/>
              </a:rPr>
              <a:t>which </a:t>
            </a:r>
            <a:r>
              <a:rPr sz="2000" dirty="0">
                <a:latin typeface="Times New Roman"/>
                <a:cs typeface="Times New Roman"/>
              </a:rPr>
              <a:t>enables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physical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object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0000FF"/>
                </a:solidFill>
                <a:latin typeface="Times New Roman"/>
                <a:cs typeface="Times New Roman"/>
              </a:rPr>
              <a:t>collect</a:t>
            </a:r>
            <a:r>
              <a:rPr sz="20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and</a:t>
            </a:r>
            <a:r>
              <a:rPr sz="2000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0000FF"/>
                </a:solidFill>
                <a:latin typeface="Times New Roman"/>
                <a:cs typeface="Times New Roman"/>
              </a:rPr>
              <a:t>exchange</a:t>
            </a:r>
            <a:r>
              <a:rPr sz="2000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,</a:t>
            </a:r>
            <a:endParaRPr sz="2000" dirty="0">
              <a:latin typeface="Times New Roman"/>
              <a:cs typeface="Times New Roman"/>
            </a:endParaRPr>
          </a:p>
          <a:p>
            <a:pPr marL="395605" lvl="1" indent="-182245">
              <a:lnSpc>
                <a:spcPct val="100000"/>
              </a:lnSpc>
              <a:spcBef>
                <a:spcPts val="994"/>
              </a:spcBef>
              <a:buClr>
                <a:srgbClr val="4F81BC"/>
              </a:buClr>
              <a:buFont typeface="Wingdings"/>
              <a:buChar char=""/>
              <a:tabLst>
                <a:tab pos="395605" algn="l"/>
              </a:tabLst>
            </a:pPr>
            <a:r>
              <a:rPr sz="2000" spc="-40" dirty="0">
                <a:solidFill>
                  <a:srgbClr val="0000FF"/>
                </a:solidFill>
                <a:latin typeface="Times New Roman"/>
                <a:cs typeface="Times New Roman"/>
              </a:rPr>
              <a:t>analyze</a:t>
            </a:r>
            <a:r>
              <a:rPr sz="2000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collected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extract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new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insight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respond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accordingly.</a:t>
            </a:r>
            <a:endParaRPr sz="20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75"/>
              </a:spcBef>
              <a:buFont typeface="Wingdings"/>
              <a:buChar char=""/>
            </a:pPr>
            <a:endParaRPr sz="2000" dirty="0">
              <a:latin typeface="Times New Roman"/>
              <a:cs typeface="Times New Roman"/>
            </a:endParaRPr>
          </a:p>
          <a:p>
            <a:pPr marL="271145" indent="-271145">
              <a:lnSpc>
                <a:spcPct val="100000"/>
              </a:lnSpc>
              <a:buClr>
                <a:srgbClr val="4F81BC"/>
              </a:buClr>
              <a:buFont typeface="Wingdings"/>
              <a:buChar char=""/>
              <a:tabLst>
                <a:tab pos="271145" algn="l"/>
              </a:tabLst>
            </a:pPr>
            <a:r>
              <a:rPr sz="2600" dirty="0">
                <a:latin typeface="Times New Roman"/>
                <a:cs typeface="Times New Roman"/>
              </a:rPr>
              <a:t>Goal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95" dirty="0">
                <a:latin typeface="Times New Roman"/>
                <a:cs typeface="Times New Roman"/>
              </a:rPr>
              <a:t>IoT</a:t>
            </a:r>
            <a:r>
              <a:rPr sz="2600" spc="-35" dirty="0">
                <a:latin typeface="Times New Roman"/>
                <a:cs typeface="Times New Roman"/>
              </a:rPr>
              <a:t> is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“</a:t>
            </a:r>
            <a:r>
              <a:rPr sz="2600" spc="-10" dirty="0">
                <a:solidFill>
                  <a:srgbClr val="C00000"/>
                </a:solidFill>
                <a:latin typeface="Times New Roman"/>
                <a:cs typeface="Times New Roman"/>
              </a:rPr>
              <a:t>connect</a:t>
            </a:r>
            <a:r>
              <a:rPr sz="26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6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Times New Roman"/>
                <a:cs typeface="Times New Roman"/>
              </a:rPr>
              <a:t>unconnected</a:t>
            </a:r>
            <a:r>
              <a:rPr sz="2600" spc="-10" dirty="0">
                <a:latin typeface="Times New Roman"/>
                <a:cs typeface="Times New Roman"/>
              </a:rPr>
              <a:t>”</a:t>
            </a:r>
            <a:endParaRPr sz="2600" dirty="0">
              <a:latin typeface="Times New Roman"/>
              <a:cs typeface="Times New Roman"/>
            </a:endParaRPr>
          </a:p>
          <a:p>
            <a:pPr marL="456565" lvl="1" indent="-243204">
              <a:lnSpc>
                <a:spcPct val="100000"/>
              </a:lnSpc>
              <a:spcBef>
                <a:spcPts val="459"/>
              </a:spcBef>
              <a:buClr>
                <a:srgbClr val="4F81BC"/>
              </a:buClr>
              <a:buFont typeface="Wingdings"/>
              <a:buChar char=""/>
              <a:tabLst>
                <a:tab pos="456565" algn="l"/>
              </a:tabLst>
            </a:pPr>
            <a:r>
              <a:rPr sz="1900" spc="-20" dirty="0">
                <a:latin typeface="Times New Roman"/>
                <a:cs typeface="Times New Roman"/>
              </a:rPr>
              <a:t>“Things”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30" dirty="0">
                <a:latin typeface="Times New Roman"/>
                <a:cs typeface="Times New Roman"/>
              </a:rPr>
              <a:t>“objects”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FF"/>
                </a:solidFill>
                <a:latin typeface="Times New Roman"/>
                <a:cs typeface="Times New Roman"/>
              </a:rPr>
              <a:t>that</a:t>
            </a:r>
            <a:r>
              <a:rPr sz="1900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0000FF"/>
                </a:solidFill>
                <a:latin typeface="Times New Roman"/>
                <a:cs typeface="Times New Roman"/>
              </a:rPr>
              <a:t>were</a:t>
            </a:r>
            <a:r>
              <a:rPr sz="19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FF"/>
                </a:solidFill>
                <a:latin typeface="Times New Roman"/>
                <a:cs typeface="Times New Roman"/>
              </a:rPr>
              <a:t>not</a:t>
            </a:r>
            <a:r>
              <a:rPr sz="19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FF"/>
                </a:solidFill>
                <a:latin typeface="Times New Roman"/>
                <a:cs typeface="Times New Roman"/>
              </a:rPr>
              <a:t>supposed</a:t>
            </a:r>
            <a:r>
              <a:rPr sz="19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FF"/>
                </a:solidFill>
                <a:latin typeface="Times New Roman"/>
                <a:cs typeface="Times New Roman"/>
              </a:rPr>
              <a:t>to</a:t>
            </a:r>
            <a:r>
              <a:rPr sz="19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FF"/>
                </a:solidFill>
                <a:latin typeface="Times New Roman"/>
                <a:cs typeface="Times New Roman"/>
              </a:rPr>
              <a:t>be</a:t>
            </a:r>
            <a:r>
              <a:rPr sz="19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FF"/>
                </a:solidFill>
                <a:latin typeface="Times New Roman"/>
                <a:cs typeface="Times New Roman"/>
              </a:rPr>
              <a:t>connected</a:t>
            </a:r>
            <a:r>
              <a:rPr sz="1900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Internet</a:t>
            </a: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9447" y="5295087"/>
            <a:ext cx="36861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1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spc="70" dirty="0">
                <a:latin typeface="Times New Roman"/>
                <a:cs typeface="Times New Roman"/>
              </a:rPr>
              <a:t>IoT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0000FF"/>
                </a:solidFill>
                <a:latin typeface="Times New Roman"/>
                <a:cs typeface="Times New Roman"/>
              </a:rPr>
              <a:t>technology</a:t>
            </a:r>
            <a:r>
              <a:rPr sz="2000" spc="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transition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traditional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networks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 descr="IoT definition | Strate, School of Desig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310" y="4648200"/>
            <a:ext cx="3142489" cy="17175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1524" y="240443"/>
            <a:ext cx="78867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95"/>
              </a:spcBef>
            </a:pPr>
            <a:r>
              <a:rPr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94653" y="1175196"/>
            <a:ext cx="544703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600" spc="100" dirty="0">
                <a:latin typeface="Times New Roman"/>
                <a:cs typeface="Times New Roman"/>
              </a:rPr>
              <a:t>IoT</a:t>
            </a:r>
            <a:r>
              <a:rPr sz="2600" spc="-45" dirty="0">
                <a:latin typeface="Times New Roman"/>
                <a:cs typeface="Times New Roman"/>
              </a:rPr>
              <a:t> is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Unifications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technologies: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8650" y="1679005"/>
            <a:ext cx="4258310" cy="1702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Embedded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Systems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spc="-50" dirty="0">
                <a:latin typeface="Times New Roman"/>
                <a:cs typeface="Times New Roman"/>
              </a:rPr>
              <a:t>Low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Power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 smtClean="0">
                <a:latin typeface="Times New Roman"/>
                <a:cs typeface="Times New Roman"/>
              </a:rPr>
              <a:t>Network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200" spc="-10" dirty="0">
                <a:latin typeface="Times New Roman"/>
                <a:cs typeface="Times New Roman"/>
              </a:rPr>
              <a:t>Internet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Cloud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Computing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Analytics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8509" y="6118656"/>
            <a:ext cx="4764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*</a:t>
            </a:r>
            <a:r>
              <a:rPr sz="1100" spc="405" dirty="0">
                <a:latin typeface="Calibri"/>
                <a:cs typeface="Calibri"/>
              </a:rPr>
              <a:t> 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https://www.gartner.com/en/information-technology/glossary/internet-of-things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1524" y="3904645"/>
            <a:ext cx="7764780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latin typeface="Times New Roman"/>
                <a:cs typeface="Times New Roman"/>
              </a:rPr>
              <a:t>Alternate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Definition:</a:t>
            </a:r>
            <a:endParaRPr sz="2400" dirty="0">
              <a:latin typeface="Times New Roman"/>
              <a:cs typeface="Times New Roman"/>
            </a:endParaRPr>
          </a:p>
          <a:p>
            <a:pPr marL="413384" marR="5080" indent="513080" algn="just">
              <a:lnSpc>
                <a:spcPct val="100000"/>
              </a:lnSpc>
              <a:spcBef>
                <a:spcPts val="40"/>
              </a:spcBef>
            </a:pPr>
            <a:r>
              <a:rPr sz="2000" dirty="0">
                <a:latin typeface="Times New Roman"/>
                <a:cs typeface="Times New Roman"/>
              </a:rPr>
              <a:t>“The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Internet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Things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(IoT)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033CC"/>
                </a:solidFill>
                <a:latin typeface="Times New Roman"/>
                <a:cs typeface="Times New Roman"/>
              </a:rPr>
              <a:t>network</a:t>
            </a:r>
            <a:r>
              <a:rPr sz="2000" spc="-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of</a:t>
            </a:r>
            <a:r>
              <a:rPr sz="2000" spc="-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40" dirty="0">
                <a:solidFill>
                  <a:srgbClr val="0033CC"/>
                </a:solidFill>
                <a:latin typeface="Times New Roman"/>
                <a:cs typeface="Times New Roman"/>
              </a:rPr>
              <a:t>physical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033CC"/>
                </a:solidFill>
                <a:latin typeface="Times New Roman"/>
                <a:cs typeface="Times New Roman"/>
              </a:rPr>
              <a:t>objects</a:t>
            </a:r>
            <a:r>
              <a:rPr sz="2000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that </a:t>
            </a:r>
            <a:r>
              <a:rPr sz="2000" dirty="0">
                <a:latin typeface="Times New Roman"/>
                <a:cs typeface="Times New Roman"/>
              </a:rPr>
              <a:t>contain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embedded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technology</a:t>
            </a:r>
            <a:r>
              <a:rPr sz="2000" dirty="0">
                <a:latin typeface="Times New Roman"/>
                <a:cs typeface="Times New Roman"/>
              </a:rPr>
              <a:t> 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communicate</a:t>
            </a:r>
            <a:r>
              <a:rPr sz="2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sense</a:t>
            </a:r>
            <a:r>
              <a:rPr sz="2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Times New Roman"/>
                <a:cs typeface="Times New Roman"/>
              </a:rPr>
              <a:t>interact</a:t>
            </a:r>
            <a:r>
              <a:rPr sz="2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with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internal</a:t>
            </a:r>
            <a:r>
              <a:rPr sz="2000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0033CC"/>
                </a:solidFill>
                <a:latin typeface="Times New Roman"/>
                <a:cs typeface="Times New Roman"/>
              </a:rPr>
              <a:t>states</a:t>
            </a:r>
            <a:r>
              <a:rPr sz="2000" spc="-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033CC"/>
                </a:solidFill>
                <a:latin typeface="Times New Roman"/>
                <a:cs typeface="Times New Roman"/>
              </a:rPr>
              <a:t>external</a:t>
            </a:r>
            <a:r>
              <a:rPr sz="2000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Times New Roman"/>
                <a:cs typeface="Times New Roman"/>
              </a:rPr>
              <a:t>environment</a:t>
            </a:r>
            <a:r>
              <a:rPr sz="2000" spc="-10" dirty="0">
                <a:latin typeface="Times New Roman"/>
                <a:cs typeface="Times New Roman"/>
              </a:rPr>
              <a:t>.”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Gartner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Research*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13019" y="1597471"/>
            <a:ext cx="3423285" cy="1970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spc="-10" dirty="0">
                <a:latin typeface="Times New Roman"/>
                <a:cs typeface="Times New Roman"/>
              </a:rPr>
              <a:t>Bigdata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Edge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Intelligence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ts val="2375"/>
              </a:lnSpc>
              <a:buFont typeface="Wingdings"/>
              <a:buChar char=""/>
              <a:tabLst>
                <a:tab pos="354965" algn="l"/>
              </a:tabLst>
            </a:pPr>
            <a:r>
              <a:rPr sz="2200" spc="-10" dirty="0">
                <a:latin typeface="Times New Roman"/>
                <a:cs typeface="Times New Roman"/>
              </a:rPr>
              <a:t>Network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Security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Data</a:t>
            </a:r>
            <a:endParaRPr sz="2200" dirty="0">
              <a:latin typeface="Times New Roman"/>
              <a:cs typeface="Times New Roman"/>
            </a:endParaRPr>
          </a:p>
          <a:p>
            <a:pPr marL="355600">
              <a:lnSpc>
                <a:spcPts val="2375"/>
              </a:lnSpc>
            </a:pPr>
            <a:r>
              <a:rPr sz="2200" spc="-10" dirty="0">
                <a:latin typeface="Times New Roman"/>
                <a:cs typeface="Times New Roman"/>
              </a:rPr>
              <a:t>Security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spc="-60" dirty="0">
                <a:latin typeface="Times New Roman"/>
                <a:cs typeface="Times New Roman"/>
              </a:rPr>
              <a:t>Software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Defined </a:t>
            </a:r>
            <a:r>
              <a:rPr sz="2200" spc="-10" dirty="0">
                <a:latin typeface="Times New Roman"/>
                <a:cs typeface="Times New Roman"/>
              </a:rPr>
              <a:t>Networks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200" spc="-20" dirty="0">
                <a:latin typeface="Times New Roman"/>
                <a:cs typeface="Times New Roman"/>
              </a:rPr>
              <a:t>Etc.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714039"/>
            <a:ext cx="788670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</a:t>
            </a:r>
            <a:r>
              <a:rPr sz="40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r>
              <a:rPr sz="40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0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sz="40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sz="40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43180" indent="-34353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93700" algn="l"/>
              </a:tabLst>
            </a:pPr>
            <a:r>
              <a:rPr spc="85" dirty="0"/>
              <a:t>The</a:t>
            </a:r>
            <a:r>
              <a:rPr spc="-90" dirty="0"/>
              <a:t> </a:t>
            </a:r>
            <a:r>
              <a:rPr dirty="0"/>
              <a:t>term</a:t>
            </a:r>
            <a:r>
              <a:rPr spc="-40" dirty="0"/>
              <a:t> </a:t>
            </a:r>
            <a:r>
              <a:rPr spc="-20" dirty="0"/>
              <a:t>"</a:t>
            </a:r>
            <a:r>
              <a:rPr spc="-20" dirty="0">
                <a:solidFill>
                  <a:srgbClr val="0033CC"/>
                </a:solidFill>
              </a:rPr>
              <a:t>Internet</a:t>
            </a:r>
            <a:r>
              <a:rPr spc="-35" dirty="0">
                <a:solidFill>
                  <a:srgbClr val="0033CC"/>
                </a:solidFill>
              </a:rPr>
              <a:t> </a:t>
            </a:r>
            <a:r>
              <a:rPr dirty="0">
                <a:solidFill>
                  <a:srgbClr val="0033CC"/>
                </a:solidFill>
              </a:rPr>
              <a:t>of</a:t>
            </a:r>
            <a:r>
              <a:rPr spc="-50" dirty="0">
                <a:solidFill>
                  <a:srgbClr val="0033CC"/>
                </a:solidFill>
              </a:rPr>
              <a:t> </a:t>
            </a:r>
            <a:r>
              <a:rPr spc="-70" dirty="0">
                <a:solidFill>
                  <a:srgbClr val="0033CC"/>
                </a:solidFill>
              </a:rPr>
              <a:t>Things</a:t>
            </a:r>
            <a:r>
              <a:rPr spc="-70" dirty="0"/>
              <a:t>"</a:t>
            </a:r>
            <a:r>
              <a:rPr spc="-35" dirty="0"/>
              <a:t> </a:t>
            </a:r>
            <a:r>
              <a:rPr spc="-135" dirty="0"/>
              <a:t>was</a:t>
            </a:r>
            <a:r>
              <a:rPr spc="-15" dirty="0"/>
              <a:t> </a:t>
            </a:r>
            <a:r>
              <a:rPr spc="-70" dirty="0"/>
              <a:t>likely</a:t>
            </a:r>
            <a:r>
              <a:rPr spc="-25" dirty="0"/>
              <a:t> </a:t>
            </a:r>
            <a:r>
              <a:rPr dirty="0"/>
              <a:t>coined</a:t>
            </a:r>
            <a:r>
              <a:rPr spc="-40" dirty="0"/>
              <a:t> </a:t>
            </a:r>
            <a:r>
              <a:rPr spc="-10" dirty="0"/>
              <a:t>by</a:t>
            </a:r>
            <a:r>
              <a:rPr spc="-45" dirty="0"/>
              <a:t> </a:t>
            </a:r>
            <a:r>
              <a:rPr spc="-40" dirty="0">
                <a:solidFill>
                  <a:srgbClr val="C00000"/>
                </a:solidFill>
              </a:rPr>
              <a:t>Kevin</a:t>
            </a:r>
            <a:r>
              <a:rPr spc="-35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Ashton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Procter</a:t>
            </a:r>
            <a:r>
              <a:rPr spc="-30" dirty="0"/>
              <a:t> </a:t>
            </a:r>
            <a:r>
              <a:rPr spc="-265" dirty="0"/>
              <a:t>&amp;</a:t>
            </a:r>
            <a:r>
              <a:rPr spc="-10" dirty="0"/>
              <a:t> </a:t>
            </a:r>
            <a:r>
              <a:rPr dirty="0"/>
              <a:t>Gamble,</a:t>
            </a:r>
            <a:r>
              <a:rPr spc="5" dirty="0"/>
              <a:t> </a:t>
            </a:r>
            <a:r>
              <a:rPr dirty="0"/>
              <a:t>later</a:t>
            </a:r>
            <a:r>
              <a:rPr spc="-15" dirty="0"/>
              <a:t> </a:t>
            </a:r>
            <a:r>
              <a:rPr dirty="0"/>
              <a:t>MIT's</a:t>
            </a:r>
            <a:r>
              <a:rPr spc="-25" dirty="0"/>
              <a:t> </a:t>
            </a:r>
            <a:r>
              <a:rPr spc="-55" dirty="0"/>
              <a:t>Auto-</a:t>
            </a:r>
            <a:r>
              <a:rPr spc="85" dirty="0"/>
              <a:t>ID</a:t>
            </a:r>
            <a:r>
              <a:rPr spc="-45" dirty="0"/>
              <a:t> </a:t>
            </a:r>
            <a:r>
              <a:rPr dirty="0"/>
              <a:t>Center,</a:t>
            </a:r>
            <a:r>
              <a:rPr spc="-15" dirty="0"/>
              <a:t> </a:t>
            </a:r>
            <a:r>
              <a:rPr b="1" spc="-35" dirty="0">
                <a:latin typeface="Times New Roman"/>
                <a:cs typeface="Times New Roman"/>
              </a:rPr>
              <a:t>in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1999</a:t>
            </a:r>
            <a:r>
              <a:rPr spc="-10" dirty="0"/>
              <a:t>.</a:t>
            </a:r>
          </a:p>
          <a:p>
            <a:pPr marL="794385" lvl="1" indent="-286385">
              <a:lnSpc>
                <a:spcPct val="100000"/>
              </a:lnSpc>
              <a:spcBef>
                <a:spcPts val="520"/>
              </a:spcBef>
              <a:buFont typeface="Wingdings"/>
              <a:buChar char=""/>
              <a:tabLst>
                <a:tab pos="794385" algn="l"/>
              </a:tabLst>
            </a:pPr>
            <a:r>
              <a:rPr sz="2000" spc="-45" dirty="0">
                <a:latin typeface="Times New Roman"/>
                <a:cs typeface="Times New Roman"/>
              </a:rPr>
              <a:t>Kevin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Ashton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said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–</a:t>
            </a:r>
            <a:endParaRPr sz="2000" dirty="0">
              <a:latin typeface="Times New Roman"/>
              <a:cs typeface="Times New Roman"/>
            </a:endParaRPr>
          </a:p>
          <a:p>
            <a:pPr marL="508000" marR="442595">
              <a:lnSpc>
                <a:spcPct val="100000"/>
              </a:lnSpc>
              <a:spcBef>
                <a:spcPts val="480"/>
              </a:spcBef>
            </a:pPr>
            <a:r>
              <a:rPr sz="2000" dirty="0"/>
              <a:t>“In</a:t>
            </a:r>
            <a:r>
              <a:rPr sz="2000" spc="-120" dirty="0"/>
              <a:t> </a:t>
            </a:r>
            <a:r>
              <a:rPr sz="2000" dirty="0"/>
              <a:t>20</a:t>
            </a:r>
            <a:r>
              <a:rPr sz="1950" baseline="25641" dirty="0"/>
              <a:t>th</a:t>
            </a:r>
            <a:r>
              <a:rPr sz="1950" spc="195" baseline="25641" dirty="0"/>
              <a:t> </a:t>
            </a:r>
            <a:r>
              <a:rPr sz="2000" spc="-20" dirty="0"/>
              <a:t>century,</a:t>
            </a:r>
            <a:r>
              <a:rPr sz="2000" spc="-45" dirty="0"/>
              <a:t> </a:t>
            </a:r>
            <a:r>
              <a:rPr sz="2000" dirty="0">
                <a:solidFill>
                  <a:srgbClr val="0033CC"/>
                </a:solidFill>
              </a:rPr>
              <a:t>computers</a:t>
            </a:r>
            <a:r>
              <a:rPr sz="2000" spc="-45" dirty="0">
                <a:solidFill>
                  <a:srgbClr val="0033CC"/>
                </a:solidFill>
              </a:rPr>
              <a:t> </a:t>
            </a:r>
            <a:r>
              <a:rPr sz="2000" spc="-35" dirty="0">
                <a:solidFill>
                  <a:srgbClr val="0033CC"/>
                </a:solidFill>
              </a:rPr>
              <a:t>were</a:t>
            </a:r>
            <a:r>
              <a:rPr sz="2000" spc="-65" dirty="0">
                <a:solidFill>
                  <a:srgbClr val="0033CC"/>
                </a:solidFill>
              </a:rPr>
              <a:t> </a:t>
            </a:r>
            <a:r>
              <a:rPr sz="2000" dirty="0">
                <a:solidFill>
                  <a:srgbClr val="0033CC"/>
                </a:solidFill>
              </a:rPr>
              <a:t>brains</a:t>
            </a:r>
            <a:r>
              <a:rPr sz="2000" spc="-55" dirty="0">
                <a:solidFill>
                  <a:srgbClr val="0033CC"/>
                </a:solidFill>
              </a:rPr>
              <a:t> </a:t>
            </a:r>
            <a:r>
              <a:rPr sz="2000" spc="-35" dirty="0">
                <a:solidFill>
                  <a:srgbClr val="0033CC"/>
                </a:solidFill>
              </a:rPr>
              <a:t>without</a:t>
            </a:r>
            <a:r>
              <a:rPr sz="2000" spc="-45" dirty="0">
                <a:solidFill>
                  <a:srgbClr val="0033CC"/>
                </a:solidFill>
              </a:rPr>
              <a:t> </a:t>
            </a:r>
            <a:r>
              <a:rPr sz="2000" spc="-10" dirty="0">
                <a:solidFill>
                  <a:srgbClr val="0033CC"/>
                </a:solidFill>
              </a:rPr>
              <a:t>senses</a:t>
            </a:r>
            <a:r>
              <a:rPr sz="2000" spc="-40" dirty="0">
                <a:solidFill>
                  <a:srgbClr val="0033CC"/>
                </a:solidFill>
              </a:rPr>
              <a:t> </a:t>
            </a:r>
            <a:r>
              <a:rPr sz="2000" spc="-740" dirty="0"/>
              <a:t>—</a:t>
            </a:r>
            <a:r>
              <a:rPr sz="2000" spc="-10" dirty="0"/>
              <a:t> they</a:t>
            </a:r>
            <a:r>
              <a:rPr sz="2000" spc="-55" dirty="0"/>
              <a:t> </a:t>
            </a:r>
            <a:r>
              <a:rPr sz="2000" spc="-25" dirty="0"/>
              <a:t>only</a:t>
            </a:r>
            <a:r>
              <a:rPr sz="2000" spc="-55" dirty="0"/>
              <a:t> </a:t>
            </a:r>
            <a:r>
              <a:rPr sz="2000" spc="-20" dirty="0"/>
              <a:t>knew </a:t>
            </a:r>
            <a:r>
              <a:rPr sz="2000" spc="-60" dirty="0"/>
              <a:t>what</a:t>
            </a:r>
            <a:r>
              <a:rPr sz="2000" spc="-55" dirty="0"/>
              <a:t> </a:t>
            </a:r>
            <a:r>
              <a:rPr sz="2000" spc="-100" dirty="0"/>
              <a:t>we</a:t>
            </a:r>
            <a:r>
              <a:rPr sz="2000" spc="-25" dirty="0"/>
              <a:t> </a:t>
            </a:r>
            <a:r>
              <a:rPr sz="2000" dirty="0"/>
              <a:t>told</a:t>
            </a:r>
            <a:r>
              <a:rPr sz="2000" spc="-40" dirty="0"/>
              <a:t> </a:t>
            </a:r>
            <a:r>
              <a:rPr sz="2000" spc="-10" dirty="0"/>
              <a:t>them.”</a:t>
            </a:r>
            <a:endParaRPr sz="2000" dirty="0"/>
          </a:p>
          <a:p>
            <a:pPr marL="508000">
              <a:lnSpc>
                <a:spcPct val="100000"/>
              </a:lnSpc>
              <a:spcBef>
                <a:spcPts val="480"/>
              </a:spcBef>
            </a:pPr>
            <a:r>
              <a:rPr sz="2000" spc="-50" dirty="0"/>
              <a:t>“Now</a:t>
            </a:r>
            <a:r>
              <a:rPr sz="2000" spc="-60" dirty="0"/>
              <a:t> </a:t>
            </a:r>
            <a:r>
              <a:rPr sz="2000" dirty="0"/>
              <a:t>in</a:t>
            </a:r>
            <a:r>
              <a:rPr sz="2000" spc="-45" dirty="0"/>
              <a:t> </a:t>
            </a:r>
            <a:r>
              <a:rPr sz="2000" dirty="0"/>
              <a:t>21</a:t>
            </a:r>
            <a:r>
              <a:rPr sz="1950" baseline="25641" dirty="0"/>
              <a:t>st</a:t>
            </a:r>
            <a:r>
              <a:rPr sz="1950" spc="209" baseline="25641" dirty="0"/>
              <a:t> </a:t>
            </a:r>
            <a:r>
              <a:rPr sz="2000" spc="-20" dirty="0"/>
              <a:t>century,</a:t>
            </a:r>
            <a:r>
              <a:rPr sz="2000" spc="-60" dirty="0"/>
              <a:t> </a:t>
            </a:r>
            <a:r>
              <a:rPr sz="2000" dirty="0">
                <a:solidFill>
                  <a:srgbClr val="C00000"/>
                </a:solidFill>
              </a:rPr>
              <a:t>computers</a:t>
            </a:r>
            <a:r>
              <a:rPr sz="2000" spc="-30" dirty="0">
                <a:solidFill>
                  <a:srgbClr val="C00000"/>
                </a:solidFill>
              </a:rPr>
              <a:t> </a:t>
            </a:r>
            <a:r>
              <a:rPr sz="2000" dirty="0">
                <a:solidFill>
                  <a:srgbClr val="C00000"/>
                </a:solidFill>
              </a:rPr>
              <a:t>are</a:t>
            </a:r>
            <a:r>
              <a:rPr sz="2000" spc="-45" dirty="0">
                <a:solidFill>
                  <a:srgbClr val="C00000"/>
                </a:solidFill>
              </a:rPr>
              <a:t> </a:t>
            </a:r>
            <a:r>
              <a:rPr sz="2000" spc="-35" dirty="0">
                <a:solidFill>
                  <a:srgbClr val="C00000"/>
                </a:solidFill>
              </a:rPr>
              <a:t>sensing</a:t>
            </a:r>
            <a:r>
              <a:rPr sz="2000" spc="-50" dirty="0">
                <a:solidFill>
                  <a:srgbClr val="C00000"/>
                </a:solidFill>
              </a:rPr>
              <a:t> </a:t>
            </a:r>
            <a:r>
              <a:rPr sz="2000" spc="-35" dirty="0">
                <a:solidFill>
                  <a:srgbClr val="C00000"/>
                </a:solidFill>
              </a:rPr>
              <a:t>things</a:t>
            </a:r>
            <a:r>
              <a:rPr sz="2000" spc="-45" dirty="0">
                <a:solidFill>
                  <a:srgbClr val="C00000"/>
                </a:solidFill>
              </a:rPr>
              <a:t> </a:t>
            </a:r>
            <a:r>
              <a:rPr sz="2000" dirty="0">
                <a:solidFill>
                  <a:srgbClr val="C00000"/>
                </a:solidFill>
              </a:rPr>
              <a:t>for</a:t>
            </a:r>
            <a:r>
              <a:rPr sz="2000" spc="-50" dirty="0">
                <a:solidFill>
                  <a:srgbClr val="C00000"/>
                </a:solidFill>
              </a:rPr>
              <a:t> </a:t>
            </a:r>
            <a:r>
              <a:rPr sz="2000" spc="-10" dirty="0">
                <a:solidFill>
                  <a:srgbClr val="C00000"/>
                </a:solidFill>
              </a:rPr>
              <a:t>themselves</a:t>
            </a:r>
            <a:r>
              <a:rPr sz="2000" spc="-10" dirty="0"/>
              <a:t>!”</a:t>
            </a:r>
            <a:endParaRPr sz="2000" dirty="0"/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2000" dirty="0"/>
          </a:p>
          <a:p>
            <a:pPr marL="393700" marR="201295" indent="-343535">
              <a:lnSpc>
                <a:spcPct val="100000"/>
              </a:lnSpc>
              <a:buFont typeface="Wingdings"/>
              <a:buChar char=""/>
              <a:tabLst>
                <a:tab pos="393700" algn="l"/>
              </a:tabLst>
            </a:pPr>
            <a:r>
              <a:rPr b="1" spc="-160" dirty="0">
                <a:latin typeface="Times New Roman"/>
                <a:cs typeface="Times New Roman"/>
              </a:rPr>
              <a:t>Early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1980s</a:t>
            </a:r>
            <a:r>
              <a:rPr b="1" spc="-100" dirty="0">
                <a:latin typeface="Times New Roman"/>
                <a:cs typeface="Times New Roman"/>
              </a:rPr>
              <a:t> </a:t>
            </a:r>
            <a:r>
              <a:rPr dirty="0"/>
              <a:t>at</a:t>
            </a:r>
            <a:r>
              <a:rPr spc="-5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20" dirty="0"/>
              <a:t>Carnegie</a:t>
            </a:r>
            <a:r>
              <a:rPr spc="-35" dirty="0"/>
              <a:t> </a:t>
            </a:r>
            <a:r>
              <a:rPr dirty="0"/>
              <a:t>Melon</a:t>
            </a:r>
            <a:r>
              <a:rPr spc="-50" dirty="0"/>
              <a:t> </a:t>
            </a:r>
            <a:r>
              <a:rPr spc="-55" dirty="0"/>
              <a:t>University,</a:t>
            </a:r>
            <a:r>
              <a:rPr spc="-3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group</a:t>
            </a:r>
            <a:r>
              <a:rPr spc="-55" dirty="0"/>
              <a:t> </a:t>
            </a:r>
            <a:r>
              <a:rPr spc="-25" dirty="0"/>
              <a:t>of </a:t>
            </a:r>
            <a:r>
              <a:rPr dirty="0"/>
              <a:t>students</a:t>
            </a:r>
            <a:r>
              <a:rPr spc="-95" dirty="0"/>
              <a:t> </a:t>
            </a:r>
            <a:r>
              <a:rPr dirty="0"/>
              <a:t>created</a:t>
            </a:r>
            <a:r>
              <a:rPr spc="-3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185" dirty="0"/>
              <a:t>way</a:t>
            </a:r>
            <a:r>
              <a:rPr dirty="0"/>
              <a:t> to</a:t>
            </a:r>
            <a:r>
              <a:rPr spc="-55" dirty="0"/>
              <a:t> </a:t>
            </a:r>
            <a:r>
              <a:rPr spc="-50" dirty="0"/>
              <a:t>get</a:t>
            </a:r>
            <a:r>
              <a:rPr spc="-45" dirty="0"/>
              <a:t> </a:t>
            </a:r>
            <a:r>
              <a:rPr dirty="0"/>
              <a:t>their</a:t>
            </a:r>
            <a:r>
              <a:rPr spc="-30" dirty="0"/>
              <a:t> </a:t>
            </a:r>
            <a:r>
              <a:rPr dirty="0"/>
              <a:t>campus</a:t>
            </a:r>
            <a:r>
              <a:rPr spc="-45" dirty="0"/>
              <a:t> </a:t>
            </a:r>
            <a:r>
              <a:rPr u="sng" spc="-6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Coca-</a:t>
            </a:r>
            <a:r>
              <a:rPr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Cola</a:t>
            </a:r>
            <a:r>
              <a:rPr u="sng" spc="-5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 </a:t>
            </a:r>
            <a:r>
              <a:rPr u="sng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vending</a:t>
            </a:r>
            <a:r>
              <a:rPr spc="-10" dirty="0">
                <a:solidFill>
                  <a:srgbClr val="C00000"/>
                </a:solidFill>
              </a:rPr>
              <a:t> </a:t>
            </a:r>
            <a:r>
              <a:rPr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machine</a:t>
            </a:r>
            <a:r>
              <a:rPr u="sng" spc="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report</a:t>
            </a:r>
            <a:r>
              <a:rPr spc="-20" dirty="0"/>
              <a:t> </a:t>
            </a:r>
            <a:r>
              <a:rPr dirty="0"/>
              <a:t>on</a:t>
            </a:r>
            <a:r>
              <a:rPr spc="-25" dirty="0"/>
              <a:t> </a:t>
            </a:r>
            <a:r>
              <a:rPr spc="-40" dirty="0"/>
              <a:t>its</a:t>
            </a:r>
            <a:r>
              <a:rPr spc="-5" dirty="0"/>
              <a:t> </a:t>
            </a:r>
            <a:r>
              <a:rPr dirty="0"/>
              <a:t>contents</a:t>
            </a:r>
            <a:r>
              <a:rPr spc="5" dirty="0"/>
              <a:t> </a:t>
            </a:r>
            <a:r>
              <a:rPr dirty="0">
                <a:solidFill>
                  <a:srgbClr val="0033CC"/>
                </a:solidFill>
              </a:rPr>
              <a:t>through</a:t>
            </a:r>
            <a:r>
              <a:rPr spc="-30" dirty="0">
                <a:solidFill>
                  <a:srgbClr val="0033CC"/>
                </a:solidFill>
              </a:rPr>
              <a:t> </a:t>
            </a:r>
            <a:r>
              <a:rPr dirty="0">
                <a:solidFill>
                  <a:srgbClr val="0033CC"/>
                </a:solidFill>
              </a:rPr>
              <a:t>a</a:t>
            </a:r>
            <a:r>
              <a:rPr spc="-10" dirty="0">
                <a:solidFill>
                  <a:srgbClr val="0033CC"/>
                </a:solidFill>
              </a:rPr>
              <a:t> </a:t>
            </a:r>
            <a:r>
              <a:rPr spc="-20" dirty="0">
                <a:solidFill>
                  <a:srgbClr val="0033CC"/>
                </a:solidFill>
              </a:rPr>
              <a:t>network</a:t>
            </a:r>
            <a:r>
              <a:rPr spc="-15" dirty="0">
                <a:solidFill>
                  <a:srgbClr val="0033CC"/>
                </a:solidFill>
              </a:rPr>
              <a:t> </a:t>
            </a:r>
            <a:r>
              <a:rPr dirty="0"/>
              <a:t>in order</a:t>
            </a:r>
            <a:r>
              <a:rPr spc="-10" dirty="0"/>
              <a:t> </a:t>
            </a:r>
            <a:r>
              <a:rPr spc="-25" dirty="0"/>
              <a:t>to </a:t>
            </a:r>
            <a:r>
              <a:rPr spc="-65" dirty="0"/>
              <a:t>save</a:t>
            </a:r>
            <a:r>
              <a:rPr spc="-25" dirty="0"/>
              <a:t> </a:t>
            </a:r>
            <a:r>
              <a:rPr dirty="0"/>
              <a:t>them</a:t>
            </a:r>
            <a:r>
              <a:rPr spc="-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trek</a:t>
            </a:r>
            <a:r>
              <a:rPr spc="-20" dirty="0"/>
              <a:t> </a:t>
            </a:r>
            <a:r>
              <a:rPr spc="-75" dirty="0"/>
              <a:t>if</a:t>
            </a:r>
            <a:r>
              <a:rPr spc="-2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machine </a:t>
            </a:r>
            <a:r>
              <a:rPr spc="-135" dirty="0"/>
              <a:t>was</a:t>
            </a:r>
            <a:r>
              <a:rPr spc="-15" dirty="0"/>
              <a:t> </a:t>
            </a:r>
            <a:r>
              <a:rPr dirty="0"/>
              <a:t>out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Coke.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47800" y="402774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</a:t>
            </a:r>
            <a:r>
              <a:rPr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r>
              <a:rPr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92100" y="1063244"/>
            <a:ext cx="8129270" cy="39770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167005" indent="-34353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93700" algn="l"/>
              </a:tabLst>
            </a:pPr>
            <a:r>
              <a:rPr sz="2400" b="1" spc="-35" dirty="0">
                <a:latin typeface="Times New Roman"/>
                <a:cs typeface="Times New Roman"/>
              </a:rPr>
              <a:t>In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1990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John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Romkey,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first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Times New Roman"/>
                <a:cs typeface="Times New Roman"/>
              </a:rPr>
              <a:t>TCP/IP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stack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IBM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1983,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toaster</a:t>
            </a:r>
            <a:r>
              <a:rPr sz="2400" spc="5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to</a:t>
            </a:r>
            <a:r>
              <a:rPr sz="2400" spc="-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internet</a:t>
            </a:r>
            <a:r>
              <a:rPr sz="2400" spc="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the </a:t>
            </a:r>
            <a:r>
              <a:rPr sz="2400" spc="-50" dirty="0">
                <a:latin typeface="Times New Roman"/>
                <a:cs typeface="Times New Roman"/>
              </a:rPr>
              <a:t>first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392430" marR="565150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93700" algn="l"/>
              </a:tabLst>
            </a:pPr>
            <a:r>
              <a:rPr sz="2400" b="1" spc="-35" dirty="0">
                <a:latin typeface="Times New Roman"/>
                <a:cs typeface="Times New Roman"/>
              </a:rPr>
              <a:t>In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1991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group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students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University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Cambridge 	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u="sng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web</a:t>
            </a:r>
            <a:r>
              <a:rPr sz="2400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camera</a:t>
            </a:r>
            <a:r>
              <a:rPr sz="24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report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coffee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available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their 	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labs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coffee</a:t>
            </a:r>
            <a:r>
              <a:rPr sz="2400" u="sng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pot</a:t>
            </a:r>
            <a:r>
              <a:rPr sz="2400" spc="-2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393700" marR="43180" indent="-343535">
              <a:lnSpc>
                <a:spcPct val="100000"/>
              </a:lnSpc>
              <a:buFont typeface="Wingdings"/>
              <a:buChar char=""/>
              <a:tabLst>
                <a:tab pos="393700" algn="l"/>
              </a:tabLst>
            </a:pP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spc="-110" dirty="0">
                <a:latin typeface="Times New Roman"/>
                <a:cs typeface="Times New Roman"/>
              </a:rPr>
              <a:t>beginning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60" dirty="0">
                <a:latin typeface="Times New Roman"/>
                <a:cs typeface="Times New Roman"/>
              </a:rPr>
              <a:t>the </a:t>
            </a:r>
            <a:r>
              <a:rPr sz="2400" b="1" dirty="0">
                <a:latin typeface="Times New Roman"/>
                <a:cs typeface="Times New Roman"/>
              </a:rPr>
              <a:t>21</a:t>
            </a:r>
            <a:r>
              <a:rPr sz="2400" b="1" baseline="24305" dirty="0">
                <a:latin typeface="Times New Roman"/>
                <a:cs typeface="Times New Roman"/>
              </a:rPr>
              <a:t>st</a:t>
            </a:r>
            <a:r>
              <a:rPr sz="2400" b="1" spc="209" baseline="24305" dirty="0">
                <a:latin typeface="Times New Roman"/>
                <a:cs typeface="Times New Roman"/>
              </a:rPr>
              <a:t> </a:t>
            </a:r>
            <a:r>
              <a:rPr sz="2400" b="1" spc="-125" dirty="0">
                <a:latin typeface="Times New Roman"/>
                <a:cs typeface="Times New Roman"/>
              </a:rPr>
              <a:t>Century</a:t>
            </a:r>
            <a:r>
              <a:rPr sz="2400" spc="-125" dirty="0">
                <a:latin typeface="Times New Roman"/>
                <a:cs typeface="Times New Roman"/>
              </a:rPr>
              <a:t>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Electronics </a:t>
            </a:r>
            <a:r>
              <a:rPr sz="2400" spc="-10" dirty="0">
                <a:latin typeface="Times New Roman"/>
                <a:cs typeface="Times New Roman"/>
              </a:rPr>
              <a:t>introduced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world’s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first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u="sng" spc="-2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refrigerator</a:t>
            </a:r>
            <a:r>
              <a:rPr sz="24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connected to</a:t>
            </a:r>
            <a:r>
              <a:rPr sz="2400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0033CC"/>
                </a:solidFill>
                <a:latin typeface="Times New Roman"/>
                <a:cs typeface="Times New Roman"/>
              </a:rPr>
              <a:t> internet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24000" y="311555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</a:t>
            </a:r>
            <a:r>
              <a:rPr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r>
              <a:rPr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19" y="2731007"/>
            <a:ext cx="7909559" cy="32506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437" y="1063244"/>
            <a:ext cx="7757795" cy="2252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spc="85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popularity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90" dirty="0">
                <a:latin typeface="Times New Roman"/>
                <a:cs typeface="Times New Roman"/>
              </a:rPr>
              <a:t>IoT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accelerate </a:t>
            </a:r>
            <a:r>
              <a:rPr sz="2400" dirty="0">
                <a:latin typeface="Times New Roman"/>
                <a:cs typeface="Times New Roman"/>
              </a:rPr>
              <a:t>until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2010/2011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reached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mass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market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2013-</a:t>
            </a:r>
            <a:r>
              <a:rPr sz="2400" spc="-25" dirty="0">
                <a:latin typeface="Times New Roman"/>
                <a:cs typeface="Times New Roman"/>
              </a:rPr>
              <a:t>14.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Definition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90" dirty="0">
                <a:latin typeface="Times New Roman"/>
                <a:cs typeface="Times New Roman"/>
              </a:rPr>
              <a:t>IoT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also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evolved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time.</a:t>
            </a:r>
            <a:endParaRPr sz="2400" dirty="0">
              <a:latin typeface="Times New Roman"/>
              <a:cs typeface="Times New Roman"/>
            </a:endParaRPr>
          </a:p>
          <a:p>
            <a:pPr marL="6427470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latin typeface="Calibri"/>
                <a:cs typeface="Calibri"/>
              </a:rPr>
              <a:t>2010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onwards</a:t>
            </a:r>
            <a:endParaRPr sz="1800" dirty="0">
              <a:latin typeface="Calibri"/>
              <a:cs typeface="Calibri"/>
            </a:endParaRPr>
          </a:p>
          <a:p>
            <a:pPr marL="4884420">
              <a:lnSpc>
                <a:spcPts val="1885"/>
              </a:lnSpc>
              <a:spcBef>
                <a:spcPts val="65"/>
              </a:spcBef>
            </a:pPr>
            <a:r>
              <a:rPr sz="1800" dirty="0">
                <a:latin typeface="Calibri"/>
                <a:cs typeface="Calibri"/>
              </a:rPr>
              <a:t>Early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2000</a:t>
            </a:r>
            <a:endParaRPr sz="1800" dirty="0">
              <a:latin typeface="Calibri"/>
              <a:cs typeface="Calibri"/>
            </a:endParaRPr>
          </a:p>
          <a:p>
            <a:pPr marL="3253104">
              <a:lnSpc>
                <a:spcPts val="1440"/>
              </a:lnSpc>
            </a:pPr>
            <a:r>
              <a:rPr sz="1800" dirty="0">
                <a:latin typeface="Calibri"/>
                <a:cs typeface="Calibri"/>
              </a:rPr>
              <a:t>Post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1993</a:t>
            </a:r>
            <a:endParaRPr sz="1800" dirty="0">
              <a:latin typeface="Calibri"/>
              <a:cs typeface="Calibri"/>
            </a:endParaRPr>
          </a:p>
          <a:p>
            <a:pPr marL="1633855">
              <a:lnSpc>
                <a:spcPts val="1714"/>
              </a:lnSpc>
            </a:pPr>
            <a:r>
              <a:rPr sz="1800" spc="-20" dirty="0">
                <a:latin typeface="Calibri"/>
                <a:cs typeface="Calibri"/>
              </a:rPr>
              <a:t>1990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6133" y="6056172"/>
            <a:ext cx="36563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Evolutionary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Phases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Internet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3701" y="189305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58267" y="1008379"/>
            <a:ext cx="8192134" cy="5269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spc="-85" dirty="0">
                <a:solidFill>
                  <a:srgbClr val="C00000"/>
                </a:solidFill>
                <a:latin typeface="Times New Roman"/>
                <a:cs typeface="Times New Roman"/>
              </a:rPr>
              <a:t>Real-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Time</a:t>
            </a:r>
            <a:r>
              <a:rPr sz="2200" spc="1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Monitoring</a:t>
            </a:r>
            <a:endParaRPr sz="2200" dirty="0">
              <a:latin typeface="Times New Roman"/>
              <a:cs typeface="Times New Roman"/>
            </a:endParaRPr>
          </a:p>
          <a:p>
            <a:pPr marL="755015" marR="53975" lvl="1" indent="-285750">
              <a:lnSpc>
                <a:spcPts val="1920"/>
              </a:lnSpc>
              <a:spcBef>
                <a:spcPts val="470"/>
              </a:spcBef>
              <a:buFont typeface="Courier New"/>
              <a:buChar char="o"/>
              <a:tabLst>
                <a:tab pos="756285" algn="l"/>
              </a:tabLst>
            </a:pPr>
            <a:r>
              <a:rPr sz="2000" spc="75" dirty="0">
                <a:latin typeface="Times New Roman"/>
                <a:cs typeface="Times New Roman"/>
              </a:rPr>
              <a:t>IoT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sensors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monitor</a:t>
            </a:r>
            <a:r>
              <a:rPr sz="2000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equipment</a:t>
            </a:r>
            <a:r>
              <a:rPr sz="2000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and</a:t>
            </a:r>
            <a:r>
              <a:rPr sz="2000" spc="-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Times New Roman"/>
                <a:cs typeface="Times New Roman"/>
              </a:rPr>
              <a:t>processes</a:t>
            </a:r>
            <a:r>
              <a:rPr sz="2000" spc="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real-</a:t>
            </a:r>
            <a:r>
              <a:rPr sz="2000" dirty="0">
                <a:latin typeface="Times New Roman"/>
                <a:cs typeface="Times New Roman"/>
              </a:rPr>
              <a:t>time,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providing 	</a:t>
            </a:r>
            <a:r>
              <a:rPr sz="2000" spc="-35" dirty="0">
                <a:latin typeface="Times New Roman"/>
                <a:cs typeface="Times New Roman"/>
              </a:rPr>
              <a:t>valuable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sensed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streamline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reduce 	</a:t>
            </a:r>
            <a:r>
              <a:rPr sz="2000" spc="-55" dirty="0">
                <a:latin typeface="Times New Roman"/>
                <a:cs typeface="Times New Roman"/>
              </a:rPr>
              <a:t>waste,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increase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output.</a:t>
            </a:r>
            <a:endParaRPr sz="20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10"/>
              </a:spcBef>
              <a:buFont typeface="Courier New"/>
              <a:buChar char="o"/>
            </a:pP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Automation</a:t>
            </a:r>
            <a:r>
              <a:rPr sz="22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2200" spc="-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Processes</a:t>
            </a:r>
            <a:endParaRPr sz="22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2160"/>
              </a:lnSpc>
              <a:spcBef>
                <a:spcPts val="10"/>
              </a:spcBef>
              <a:buFont typeface="Courier New"/>
              <a:buChar char="o"/>
              <a:tabLst>
                <a:tab pos="755650" algn="l"/>
              </a:tabLst>
            </a:pPr>
            <a:r>
              <a:rPr sz="2000" spc="-10" dirty="0">
                <a:solidFill>
                  <a:srgbClr val="0033CC"/>
                </a:solidFill>
                <a:latin typeface="Times New Roman"/>
                <a:cs typeface="Times New Roman"/>
              </a:rPr>
              <a:t>Machines</a:t>
            </a:r>
            <a:r>
              <a:rPr sz="2000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can</a:t>
            </a:r>
            <a:r>
              <a:rPr sz="2000" spc="-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Times New Roman"/>
                <a:cs typeface="Times New Roman"/>
              </a:rPr>
              <a:t>assemble</a:t>
            </a:r>
            <a:r>
              <a:rPr sz="2000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Times New Roman"/>
                <a:cs typeface="Times New Roman"/>
              </a:rPr>
              <a:t>parts</a:t>
            </a:r>
            <a:r>
              <a:rPr sz="2000" spc="-9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with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precision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speed,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resulting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</a:t>
            </a:r>
            <a:endParaRPr sz="2000" dirty="0">
              <a:latin typeface="Times New Roman"/>
              <a:cs typeface="Times New Roman"/>
            </a:endParaRPr>
          </a:p>
          <a:p>
            <a:pPr marL="756285">
              <a:lnSpc>
                <a:spcPts val="2160"/>
              </a:lnSpc>
            </a:pPr>
            <a:r>
              <a:rPr sz="2000" spc="-45" dirty="0">
                <a:latin typeface="Times New Roman"/>
                <a:cs typeface="Times New Roman"/>
              </a:rPr>
              <a:t>fewer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errors</a:t>
            </a:r>
            <a:r>
              <a:rPr sz="2000" spc="-10" dirty="0">
                <a:latin typeface="Times New Roman"/>
                <a:cs typeface="Times New Roman"/>
              </a:rPr>
              <a:t> during assembly</a:t>
            </a:r>
            <a:endParaRPr sz="2000" dirty="0">
              <a:latin typeface="Times New Roman"/>
              <a:cs typeface="Times New Roman"/>
            </a:endParaRPr>
          </a:p>
          <a:p>
            <a:pPr marL="755015" marR="613410" lvl="1" indent="-285750">
              <a:lnSpc>
                <a:spcPct val="80000"/>
              </a:lnSpc>
              <a:spcBef>
                <a:spcPts val="480"/>
              </a:spcBef>
              <a:buFont typeface="Courier New"/>
              <a:buChar char="o"/>
              <a:tabLst>
                <a:tab pos="756285" algn="l"/>
              </a:tabLst>
            </a:pP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Robots</a:t>
            </a:r>
            <a:r>
              <a:rPr sz="2000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can</a:t>
            </a:r>
            <a:r>
              <a:rPr sz="2000" spc="-8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very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rapidly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detect</a:t>
            </a:r>
            <a:r>
              <a:rPr sz="2000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40" dirty="0">
                <a:solidFill>
                  <a:srgbClr val="0033CC"/>
                </a:solidFill>
                <a:latin typeface="Times New Roman"/>
                <a:cs typeface="Times New Roman"/>
              </a:rPr>
              <a:t>faults</a:t>
            </a:r>
            <a:r>
              <a:rPr sz="2000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may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detected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by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human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eye</a:t>
            </a:r>
            <a:endParaRPr sz="20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Courier New"/>
              <a:buChar char="o"/>
            </a:pP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Improved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-60" dirty="0">
                <a:solidFill>
                  <a:srgbClr val="C00000"/>
                </a:solidFill>
                <a:latin typeface="Times New Roman"/>
                <a:cs typeface="Times New Roman"/>
              </a:rPr>
              <a:t>Efficiency</a:t>
            </a:r>
            <a:r>
              <a:rPr sz="22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or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Productivity</a:t>
            </a:r>
            <a:endParaRPr sz="2200" dirty="0">
              <a:latin typeface="Times New Roman"/>
              <a:cs typeface="Times New Roman"/>
            </a:endParaRPr>
          </a:p>
          <a:p>
            <a:pPr marL="755015" marR="169545" lvl="1" indent="-285750">
              <a:lnSpc>
                <a:spcPts val="1920"/>
              </a:lnSpc>
              <a:spcBef>
                <a:spcPts val="475"/>
              </a:spcBef>
              <a:buFont typeface="Courier New"/>
              <a:buChar char="o"/>
              <a:tabLst>
                <a:tab pos="756285" algn="l"/>
              </a:tabLst>
            </a:pPr>
            <a:r>
              <a:rPr sz="2000" spc="75" dirty="0">
                <a:latin typeface="Times New Roman"/>
                <a:cs typeface="Times New Roman"/>
              </a:rPr>
              <a:t>IoT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enhance</a:t>
            </a:r>
            <a:r>
              <a:rPr sz="2000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0033CC"/>
                </a:solidFill>
                <a:latin typeface="Times New Roman"/>
                <a:cs typeface="Times New Roman"/>
              </a:rPr>
              <a:t>productivity</a:t>
            </a:r>
            <a:r>
              <a:rPr sz="2000" spc="-10" dirty="0">
                <a:solidFill>
                  <a:srgbClr val="0033CC"/>
                </a:solidFill>
                <a:latin typeface="Times New Roman"/>
                <a:cs typeface="Times New Roman"/>
              </a:rPr>
              <a:t> by</a:t>
            </a:r>
            <a:r>
              <a:rPr sz="2000" spc="-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streamlining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processes,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automating 	</a:t>
            </a:r>
            <a:r>
              <a:rPr sz="2000" spc="-30" dirty="0">
                <a:latin typeface="Times New Roman"/>
                <a:cs typeface="Times New Roman"/>
              </a:rPr>
              <a:t>tasks,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providing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real-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insights.</a:t>
            </a:r>
            <a:endParaRPr sz="20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10"/>
              </a:spcBef>
              <a:buFont typeface="Courier New"/>
              <a:buChar char="o"/>
            </a:pP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spc="-30" dirty="0">
                <a:solidFill>
                  <a:srgbClr val="C00000"/>
                </a:solidFill>
                <a:latin typeface="Times New Roman"/>
                <a:cs typeface="Times New Roman"/>
              </a:rPr>
              <a:t>Predictive</a:t>
            </a:r>
            <a:r>
              <a:rPr sz="22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Maintenance</a:t>
            </a:r>
            <a:endParaRPr sz="2200" dirty="0">
              <a:latin typeface="Times New Roman"/>
              <a:cs typeface="Times New Roman"/>
            </a:endParaRPr>
          </a:p>
          <a:p>
            <a:pPr marL="755015" marR="5080" lvl="1" indent="-285750">
              <a:lnSpc>
                <a:spcPct val="80000"/>
              </a:lnSpc>
              <a:spcBef>
                <a:spcPts val="490"/>
              </a:spcBef>
              <a:buFont typeface="Courier New"/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Continuous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monitoring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systems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0033CC"/>
                </a:solidFill>
                <a:latin typeface="Times New Roman"/>
                <a:cs typeface="Times New Roman"/>
              </a:rPr>
              <a:t>identify</a:t>
            </a:r>
            <a:r>
              <a:rPr sz="2000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0033CC"/>
                </a:solidFill>
                <a:latin typeface="Times New Roman"/>
                <a:cs typeface="Times New Roman"/>
              </a:rPr>
              <a:t>key</a:t>
            </a:r>
            <a:r>
              <a:rPr sz="2000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Times New Roman"/>
                <a:cs typeface="Times New Roman"/>
              </a:rPr>
              <a:t>indicators 	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of</a:t>
            </a:r>
            <a:r>
              <a:rPr sz="2000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problems</a:t>
            </a:r>
            <a:r>
              <a:rPr sz="2000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downtime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system </a:t>
            </a:r>
            <a:r>
              <a:rPr sz="2000" spc="-10" dirty="0">
                <a:latin typeface="Times New Roman"/>
                <a:cs typeface="Times New Roman"/>
              </a:rPr>
              <a:t>failure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462574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58267" y="1008379"/>
            <a:ext cx="8426450" cy="5026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Improved</a:t>
            </a:r>
            <a:r>
              <a:rPr sz="22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or</a:t>
            </a:r>
            <a:r>
              <a:rPr sz="22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C00000"/>
                </a:solidFill>
                <a:latin typeface="Times New Roman"/>
                <a:cs typeface="Times New Roman"/>
              </a:rPr>
              <a:t>New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Insights</a:t>
            </a:r>
            <a:endParaRPr sz="2200" dirty="0">
              <a:latin typeface="Times New Roman"/>
              <a:cs typeface="Times New Roman"/>
            </a:endParaRPr>
          </a:p>
          <a:p>
            <a:pPr marL="755015" marR="135890" lvl="1" indent="-285750">
              <a:lnSpc>
                <a:spcPts val="1920"/>
              </a:lnSpc>
              <a:spcBef>
                <a:spcPts val="470"/>
              </a:spcBef>
              <a:buFont typeface="Courier New"/>
              <a:buChar char="o"/>
              <a:tabLst>
                <a:tab pos="756285" algn="l"/>
              </a:tabLst>
            </a:pPr>
            <a:r>
              <a:rPr sz="2000" spc="75" dirty="0">
                <a:latin typeface="Times New Roman"/>
                <a:cs typeface="Times New Roman"/>
              </a:rPr>
              <a:t>IoT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generates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vast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amounts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that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can</a:t>
            </a:r>
            <a:r>
              <a:rPr sz="2000" spc="-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be</a:t>
            </a:r>
            <a:r>
              <a:rPr sz="2000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0033CC"/>
                </a:solidFill>
                <a:latin typeface="Times New Roman"/>
                <a:cs typeface="Times New Roman"/>
              </a:rPr>
              <a:t>analyzed</a:t>
            </a:r>
            <a:r>
              <a:rPr sz="2000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to</a:t>
            </a:r>
            <a:r>
              <a:rPr sz="2000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0033CC"/>
                </a:solidFill>
                <a:latin typeface="Times New Roman"/>
                <a:cs typeface="Times New Roman"/>
              </a:rPr>
              <a:t>identify </a:t>
            </a:r>
            <a:r>
              <a:rPr sz="2000" spc="-10" dirty="0">
                <a:solidFill>
                  <a:srgbClr val="0033CC"/>
                </a:solidFill>
                <a:latin typeface="Times New Roman"/>
                <a:cs typeface="Times New Roman"/>
              </a:rPr>
              <a:t>trends, 	</a:t>
            </a:r>
            <a:r>
              <a:rPr sz="2000" spc="-40" dirty="0">
                <a:solidFill>
                  <a:srgbClr val="0033CC"/>
                </a:solidFill>
                <a:latin typeface="Times New Roman"/>
                <a:cs typeface="Times New Roman"/>
              </a:rPr>
              <a:t>inefficiencies,</a:t>
            </a:r>
            <a:r>
              <a:rPr sz="2000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and</a:t>
            </a:r>
            <a:r>
              <a:rPr sz="2000" spc="-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areas</a:t>
            </a:r>
            <a:r>
              <a:rPr sz="2000" spc="-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for</a:t>
            </a:r>
            <a:r>
              <a:rPr sz="2000" spc="-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Times New Roman"/>
                <a:cs typeface="Times New Roman"/>
              </a:rPr>
              <a:t>improvement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Organizations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leverage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these 	</a:t>
            </a:r>
            <a:r>
              <a:rPr sz="2000" spc="-45" dirty="0">
                <a:latin typeface="Times New Roman"/>
                <a:cs typeface="Times New Roman"/>
              </a:rPr>
              <a:t>insights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enhance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productivity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operational</a:t>
            </a:r>
            <a:r>
              <a:rPr sz="2000" spc="-10" dirty="0">
                <a:latin typeface="Times New Roman"/>
                <a:cs typeface="Times New Roman"/>
              </a:rPr>
              <a:t> effectiveness.</a:t>
            </a:r>
            <a:endParaRPr sz="20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0"/>
              </a:spcBef>
              <a:buFont typeface="Courier New"/>
              <a:buChar char="o"/>
            </a:pP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Cost</a:t>
            </a:r>
            <a:r>
              <a:rPr sz="2200" spc="-1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Reduction</a:t>
            </a:r>
            <a:endParaRPr sz="2200" dirty="0">
              <a:latin typeface="Times New Roman"/>
              <a:cs typeface="Times New Roman"/>
            </a:endParaRPr>
          </a:p>
          <a:p>
            <a:pPr marL="755015" marR="195580" lvl="1" indent="-285750">
              <a:lnSpc>
                <a:spcPct val="80100"/>
              </a:lnSpc>
              <a:spcBef>
                <a:spcPts val="484"/>
              </a:spcBef>
              <a:buFont typeface="Courier New"/>
              <a:buChar char="o"/>
              <a:tabLst>
                <a:tab pos="756285" algn="l"/>
              </a:tabLst>
            </a:pPr>
            <a:r>
              <a:rPr sz="2000" spc="70" dirty="0">
                <a:latin typeface="Times New Roman"/>
                <a:cs typeface="Times New Roman"/>
              </a:rPr>
              <a:t>When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0033CC"/>
                </a:solidFill>
                <a:latin typeface="Times New Roman"/>
                <a:cs typeface="Times New Roman"/>
              </a:rPr>
              <a:t>organization</a:t>
            </a:r>
            <a:r>
              <a:rPr sz="2000" spc="-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can</a:t>
            </a:r>
            <a:r>
              <a:rPr sz="2000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improve</a:t>
            </a:r>
            <a:r>
              <a:rPr sz="2000" spc="-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system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uptime,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automate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processes, 	</a:t>
            </a:r>
            <a:r>
              <a:rPr sz="2000" dirty="0">
                <a:latin typeface="Times New Roman"/>
                <a:cs typeface="Times New Roman"/>
              </a:rPr>
              <a:t>reduce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risk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failure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gain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insights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 better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decision 	</a:t>
            </a:r>
            <a:r>
              <a:rPr sz="2000" spc="-25" dirty="0">
                <a:latin typeface="Times New Roman"/>
                <a:cs typeface="Times New Roman"/>
              </a:rPr>
              <a:t>making,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reduce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usage,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result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efficiency</a:t>
            </a:r>
            <a:r>
              <a:rPr sz="2000" dirty="0">
                <a:latin typeface="Times New Roman"/>
                <a:cs typeface="Times New Roman"/>
              </a:rPr>
              <a:t> 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cost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savings</a:t>
            </a:r>
            <a:endParaRPr sz="20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35"/>
              </a:spcBef>
              <a:buFont typeface="Courier New"/>
              <a:buChar char="o"/>
            </a:pP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Optimized</a:t>
            </a:r>
            <a:r>
              <a:rPr sz="2200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60" dirty="0">
                <a:solidFill>
                  <a:srgbClr val="C00000"/>
                </a:solidFill>
                <a:latin typeface="Times New Roman"/>
                <a:cs typeface="Times New Roman"/>
              </a:rPr>
              <a:t>Work</a:t>
            </a:r>
            <a:r>
              <a:rPr sz="22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Environments</a:t>
            </a:r>
            <a:endParaRPr sz="22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0"/>
              </a:spcBef>
              <a:buFont typeface="Courier New"/>
              <a:buChar char="o"/>
              <a:tabLst>
                <a:tab pos="755650" algn="l"/>
              </a:tabLst>
            </a:pPr>
            <a:r>
              <a:rPr sz="2000" spc="75" dirty="0">
                <a:latin typeface="Times New Roman"/>
                <a:cs typeface="Times New Roman"/>
              </a:rPr>
              <a:t>IoT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technology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create</a:t>
            </a:r>
            <a:r>
              <a:rPr sz="2000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more</a:t>
            </a:r>
            <a:r>
              <a:rPr sz="2000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Times New Roman"/>
                <a:cs typeface="Times New Roman"/>
              </a:rPr>
              <a:t>comfortable</a:t>
            </a:r>
            <a:r>
              <a:rPr sz="2000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and</a:t>
            </a:r>
            <a:r>
              <a:rPr sz="2000" spc="-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40" dirty="0">
                <a:solidFill>
                  <a:srgbClr val="0033CC"/>
                </a:solidFill>
                <a:latin typeface="Times New Roman"/>
                <a:cs typeface="Times New Roman"/>
              </a:rPr>
              <a:t>efficient</a:t>
            </a:r>
            <a:r>
              <a:rPr sz="2000" spc="-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Times New Roman"/>
                <a:cs typeface="Times New Roman"/>
              </a:rPr>
              <a:t>workspaces</a:t>
            </a:r>
            <a:endParaRPr sz="20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Courier New"/>
              <a:buChar char="o"/>
            </a:pP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Adaptability</a:t>
            </a:r>
            <a:endParaRPr sz="2200" dirty="0">
              <a:latin typeface="Times New Roman"/>
              <a:cs typeface="Times New Roman"/>
            </a:endParaRPr>
          </a:p>
          <a:p>
            <a:pPr marL="755015" marR="5080" lvl="1" indent="-285750">
              <a:lnSpc>
                <a:spcPct val="80100"/>
              </a:lnSpc>
              <a:spcBef>
                <a:spcPts val="484"/>
              </a:spcBef>
              <a:buFont typeface="Courier New"/>
              <a:buChar char="o"/>
              <a:tabLst>
                <a:tab pos="756285" algn="l"/>
              </a:tabLst>
            </a:pPr>
            <a:r>
              <a:rPr sz="2000" spc="7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65" dirty="0">
                <a:solidFill>
                  <a:srgbClr val="0033CC"/>
                </a:solidFill>
                <a:latin typeface="Times New Roman"/>
                <a:cs typeface="Times New Roman"/>
              </a:rPr>
              <a:t>ability</a:t>
            </a:r>
            <a:r>
              <a:rPr sz="2000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to</a:t>
            </a:r>
            <a:r>
              <a:rPr sz="2000" spc="-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Times New Roman"/>
                <a:cs typeface="Times New Roman"/>
              </a:rPr>
              <a:t>adapt</a:t>
            </a:r>
            <a:r>
              <a:rPr sz="2000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new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business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requirements,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	</a:t>
            </a:r>
            <a:r>
              <a:rPr sz="2000" spc="-40" dirty="0">
                <a:latin typeface="Times New Roman"/>
                <a:cs typeface="Times New Roman"/>
              </a:rPr>
              <a:t>changing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conditions,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scale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deployment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response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business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growth 	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customer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requirements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162426"/>
            <a:ext cx="7886700" cy="610039"/>
          </a:xfrm>
          <a:prstGeom prst="rect">
            <a:avLst/>
          </a:prstGeom>
        </p:spPr>
        <p:txBody>
          <a:bodyPr vert="horz" wrap="square" lIns="0" tIns="116459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</a:t>
            </a:r>
            <a:r>
              <a:rPr sz="32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sz="32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048382" y="5268214"/>
            <a:ext cx="25571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IoT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spc="-114" dirty="0">
                <a:latin typeface="Times New Roman"/>
                <a:cs typeface="Times New Roman"/>
              </a:rPr>
              <a:t>Analytics’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spc="-55" dirty="0">
                <a:latin typeface="Times New Roman"/>
                <a:cs typeface="Times New Roman"/>
              </a:rPr>
              <a:t>prediction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0200" y="5759602"/>
            <a:ext cx="3740150" cy="667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latin typeface="Times New Roman"/>
                <a:cs typeface="Times New Roman"/>
              </a:rPr>
              <a:t>IoT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devices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30" dirty="0">
                <a:solidFill>
                  <a:srgbClr val="C00000"/>
                </a:solidFill>
                <a:latin typeface="Times New Roman"/>
                <a:cs typeface="Times New Roman"/>
              </a:rPr>
              <a:t>excluding</a:t>
            </a:r>
            <a:r>
              <a:rPr sz="13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PC,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Laptop,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Smartphone,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Tablet,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300" dirty="0">
                <a:latin typeface="Times New Roman"/>
                <a:cs typeface="Times New Roman"/>
              </a:rPr>
              <a:t>and one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directional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technology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like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RFID,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NFC</a:t>
            </a:r>
            <a:endParaRPr sz="1300">
              <a:latin typeface="Times New Roman"/>
              <a:cs typeface="Times New Roman"/>
            </a:endParaRPr>
          </a:p>
          <a:p>
            <a:pPr marL="372745">
              <a:lnSpc>
                <a:spcPct val="100000"/>
              </a:lnSpc>
              <a:spcBef>
                <a:spcPts val="850"/>
              </a:spcBef>
            </a:pPr>
            <a:r>
              <a:rPr sz="900" dirty="0">
                <a:latin typeface="Calibri"/>
                <a:cs typeface="Calibri"/>
              </a:rPr>
              <a:t>Image</a:t>
            </a:r>
            <a:r>
              <a:rPr sz="900" spc="9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Source:</a:t>
            </a:r>
            <a:r>
              <a:rPr sz="900" spc="105" dirty="0">
                <a:latin typeface="Calibri"/>
                <a:cs typeface="Calibri"/>
              </a:rPr>
              <a:t> </a:t>
            </a:r>
            <a:r>
              <a:rPr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https://iot-analytics.com/number-connected-iot-devices/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3970" y="5577941"/>
            <a:ext cx="3602354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0033CC"/>
                </a:solidFill>
                <a:latin typeface="Times New Roman"/>
                <a:cs typeface="Times New Roman"/>
              </a:rPr>
              <a:t>Wired</a:t>
            </a:r>
            <a:r>
              <a:rPr sz="1300" dirty="0">
                <a:latin typeface="Times New Roman"/>
                <a:cs typeface="Times New Roman"/>
              </a:rPr>
              <a:t>: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Eth,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SCADA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network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(Modbus,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Fieldbus,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etc.) </a:t>
            </a:r>
            <a:r>
              <a:rPr sz="1300" spc="-20" dirty="0">
                <a:solidFill>
                  <a:srgbClr val="0033CC"/>
                </a:solidFill>
                <a:latin typeface="Times New Roman"/>
                <a:cs typeface="Times New Roman"/>
              </a:rPr>
              <a:t>Cellular</a:t>
            </a:r>
            <a:r>
              <a:rPr sz="1300" spc="-20" dirty="0">
                <a:latin typeface="Times New Roman"/>
                <a:cs typeface="Times New Roman"/>
              </a:rPr>
              <a:t>: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2G,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3G, 4G,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5G;</a:t>
            </a:r>
            <a:r>
              <a:rPr sz="1300" spc="305" dirty="0"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33CC"/>
                </a:solidFill>
                <a:latin typeface="Times New Roman"/>
                <a:cs typeface="Times New Roman"/>
              </a:rPr>
              <a:t>LPWA</a:t>
            </a:r>
            <a:r>
              <a:rPr sz="1300" dirty="0">
                <a:latin typeface="Times New Roman"/>
                <a:cs typeface="Times New Roman"/>
              </a:rPr>
              <a:t>:</a:t>
            </a:r>
            <a:r>
              <a:rPr sz="1300" spc="-10" dirty="0">
                <a:latin typeface="Times New Roman"/>
                <a:cs typeface="Times New Roman"/>
              </a:rPr>
              <a:t> LoRa,</a:t>
            </a:r>
            <a:r>
              <a:rPr sz="1300" spc="-20" dirty="0">
                <a:latin typeface="Times New Roman"/>
                <a:cs typeface="Times New Roman"/>
              </a:rPr>
              <a:t> HaLow </a:t>
            </a:r>
            <a:r>
              <a:rPr sz="1300" dirty="0">
                <a:solidFill>
                  <a:srgbClr val="0033CC"/>
                </a:solidFill>
                <a:latin typeface="Times New Roman"/>
                <a:cs typeface="Times New Roman"/>
              </a:rPr>
              <a:t>WPAN</a:t>
            </a:r>
            <a:r>
              <a:rPr sz="1300" dirty="0">
                <a:latin typeface="Times New Roman"/>
                <a:cs typeface="Times New Roman"/>
              </a:rPr>
              <a:t>: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BLE, </a:t>
            </a:r>
            <a:r>
              <a:rPr sz="1300" spc="-20" dirty="0">
                <a:latin typeface="Times New Roman"/>
                <a:cs typeface="Times New Roman"/>
              </a:rPr>
              <a:t>ZigBee,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70" dirty="0">
                <a:latin typeface="Times New Roman"/>
                <a:cs typeface="Times New Roman"/>
              </a:rPr>
              <a:t>Z-</a:t>
            </a:r>
            <a:r>
              <a:rPr sz="1300" dirty="0">
                <a:latin typeface="Times New Roman"/>
                <a:cs typeface="Times New Roman"/>
              </a:rPr>
              <a:t>Wave,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etc.;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33CC"/>
                </a:solidFill>
                <a:latin typeface="Times New Roman"/>
                <a:cs typeface="Times New Roman"/>
              </a:rPr>
              <a:t>WLAN</a:t>
            </a:r>
            <a:r>
              <a:rPr sz="1300" dirty="0">
                <a:latin typeface="Times New Roman"/>
                <a:cs typeface="Times New Roman"/>
              </a:rPr>
              <a:t>: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WiFi </a:t>
            </a:r>
            <a:r>
              <a:rPr sz="1300" dirty="0">
                <a:solidFill>
                  <a:srgbClr val="0033CC"/>
                </a:solidFill>
                <a:latin typeface="Times New Roman"/>
                <a:cs typeface="Times New Roman"/>
              </a:rPr>
              <a:t>WNAN</a:t>
            </a:r>
            <a:r>
              <a:rPr sz="1300" dirty="0">
                <a:latin typeface="Times New Roman"/>
                <a:cs typeface="Times New Roman"/>
              </a:rPr>
              <a:t>: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Non-</a:t>
            </a:r>
            <a:r>
              <a:rPr sz="1300" spc="-30" dirty="0">
                <a:latin typeface="Times New Roman"/>
                <a:cs typeface="Times New Roman"/>
              </a:rPr>
              <a:t>short-</a:t>
            </a:r>
            <a:r>
              <a:rPr sz="1300" spc="-10" dirty="0">
                <a:latin typeface="Times New Roman"/>
                <a:cs typeface="Times New Roman"/>
              </a:rPr>
              <a:t>range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mesh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e.g.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Wi-</a:t>
            </a:r>
            <a:r>
              <a:rPr sz="1300" spc="-25" dirty="0">
                <a:latin typeface="Times New Roman"/>
                <a:cs typeface="Times New Roman"/>
              </a:rPr>
              <a:t>SUN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991" y="1021080"/>
            <a:ext cx="8078724" cy="42412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947917" y="4517516"/>
            <a:ext cx="140525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Calibri"/>
                <a:cs typeface="Calibri"/>
              </a:rPr>
              <a:t>(Compound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Annual</a:t>
            </a:r>
            <a:r>
              <a:rPr sz="800" spc="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Growth</a:t>
            </a:r>
            <a:r>
              <a:rPr sz="800" spc="-20" dirty="0">
                <a:latin typeface="Calibri"/>
                <a:cs typeface="Calibri"/>
              </a:rPr>
              <a:t> Rate)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159495" y="2912364"/>
            <a:ext cx="459105" cy="628015"/>
            <a:chOff x="8159495" y="2912364"/>
            <a:chExt cx="459105" cy="628015"/>
          </a:xfrm>
        </p:grpSpPr>
        <p:sp>
          <p:nvSpPr>
            <p:cNvPr id="9" name="object 9"/>
            <p:cNvSpPr/>
            <p:nvPr/>
          </p:nvSpPr>
          <p:spPr>
            <a:xfrm>
              <a:off x="8172449" y="2925318"/>
              <a:ext cx="433070" cy="144780"/>
            </a:xfrm>
            <a:custGeom>
              <a:avLst/>
              <a:gdLst/>
              <a:ahLst/>
              <a:cxnLst/>
              <a:rect l="l" t="t" r="r" b="b"/>
              <a:pathLst>
                <a:path w="433070" h="144780">
                  <a:moveTo>
                    <a:pt x="72390" y="0"/>
                  </a:moveTo>
                  <a:lnTo>
                    <a:pt x="0" y="72390"/>
                  </a:lnTo>
                  <a:lnTo>
                    <a:pt x="72390" y="144780"/>
                  </a:lnTo>
                  <a:lnTo>
                    <a:pt x="72390" y="108585"/>
                  </a:lnTo>
                  <a:lnTo>
                    <a:pt x="432816" y="108585"/>
                  </a:lnTo>
                  <a:lnTo>
                    <a:pt x="432816" y="36195"/>
                  </a:lnTo>
                  <a:lnTo>
                    <a:pt x="72390" y="36195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72449" y="2925318"/>
              <a:ext cx="433070" cy="144780"/>
            </a:xfrm>
            <a:custGeom>
              <a:avLst/>
              <a:gdLst/>
              <a:ahLst/>
              <a:cxnLst/>
              <a:rect l="l" t="t" r="r" b="b"/>
              <a:pathLst>
                <a:path w="433070" h="144780">
                  <a:moveTo>
                    <a:pt x="0" y="72390"/>
                  </a:moveTo>
                  <a:lnTo>
                    <a:pt x="72390" y="0"/>
                  </a:lnTo>
                  <a:lnTo>
                    <a:pt x="72390" y="36195"/>
                  </a:lnTo>
                  <a:lnTo>
                    <a:pt x="432816" y="36195"/>
                  </a:lnTo>
                  <a:lnTo>
                    <a:pt x="432816" y="108585"/>
                  </a:lnTo>
                  <a:lnTo>
                    <a:pt x="72390" y="108585"/>
                  </a:lnTo>
                  <a:lnTo>
                    <a:pt x="72390" y="144780"/>
                  </a:lnTo>
                  <a:lnTo>
                    <a:pt x="0" y="7239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72449" y="3384042"/>
              <a:ext cx="433070" cy="143510"/>
            </a:xfrm>
            <a:custGeom>
              <a:avLst/>
              <a:gdLst/>
              <a:ahLst/>
              <a:cxnLst/>
              <a:rect l="l" t="t" r="r" b="b"/>
              <a:pathLst>
                <a:path w="433070" h="143510">
                  <a:moveTo>
                    <a:pt x="71627" y="0"/>
                  </a:moveTo>
                  <a:lnTo>
                    <a:pt x="0" y="71628"/>
                  </a:lnTo>
                  <a:lnTo>
                    <a:pt x="71627" y="143256"/>
                  </a:lnTo>
                  <a:lnTo>
                    <a:pt x="71627" y="107442"/>
                  </a:lnTo>
                  <a:lnTo>
                    <a:pt x="432816" y="107442"/>
                  </a:lnTo>
                  <a:lnTo>
                    <a:pt x="432816" y="35813"/>
                  </a:lnTo>
                  <a:lnTo>
                    <a:pt x="71627" y="35813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72449" y="3384042"/>
              <a:ext cx="433070" cy="143510"/>
            </a:xfrm>
            <a:custGeom>
              <a:avLst/>
              <a:gdLst/>
              <a:ahLst/>
              <a:cxnLst/>
              <a:rect l="l" t="t" r="r" b="b"/>
              <a:pathLst>
                <a:path w="433070" h="143510">
                  <a:moveTo>
                    <a:pt x="0" y="71628"/>
                  </a:moveTo>
                  <a:lnTo>
                    <a:pt x="71627" y="0"/>
                  </a:lnTo>
                  <a:lnTo>
                    <a:pt x="71627" y="35813"/>
                  </a:lnTo>
                  <a:lnTo>
                    <a:pt x="432816" y="35813"/>
                  </a:lnTo>
                  <a:lnTo>
                    <a:pt x="432816" y="107442"/>
                  </a:lnTo>
                  <a:lnTo>
                    <a:pt x="71627" y="107442"/>
                  </a:lnTo>
                  <a:lnTo>
                    <a:pt x="71627" y="143256"/>
                  </a:lnTo>
                  <a:lnTo>
                    <a:pt x="0" y="71628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270129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Spending</a:t>
            </a:r>
            <a:r>
              <a:rPr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1007363"/>
            <a:ext cx="8567928" cy="44988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98751" y="5674258"/>
            <a:ext cx="541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Analytics’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Report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Global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Market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July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2024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26957" y="6629196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437" y="6234176"/>
            <a:ext cx="8021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Image</a:t>
            </a:r>
            <a:r>
              <a:rPr sz="1000" spc="30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source:</a:t>
            </a:r>
            <a:r>
              <a:rPr sz="1000" spc="325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https://iotbusinessnews.com/2024/07/10/06205-enterprise-iot-market-size-reached-269-billion-in-2023-with-growth-deceleration-in-2024/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2788" y="222122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IoT?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67050" y="2999943"/>
            <a:ext cx="25450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85" dirty="0">
                <a:latin typeface="Times New Roman"/>
                <a:cs typeface="Times New Roman"/>
              </a:rPr>
              <a:t>It’s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spc="-160" dirty="0">
                <a:latin typeface="Times New Roman"/>
                <a:cs typeface="Times New Roman"/>
              </a:rPr>
              <a:t>everywhere!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 descr="http://media.gadgetsin.com/2014/05/wellograph_smart_watch_with_fitness_tracker_3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59" y="1124711"/>
            <a:ext cx="3061716" cy="1684019"/>
          </a:xfrm>
          <a:prstGeom prst="rect">
            <a:avLst/>
          </a:prstGeom>
        </p:spPr>
      </p:pic>
      <p:pic>
        <p:nvPicPr>
          <p:cNvPr id="5" name="object 5" descr="http://www.cccblog.org/wp-content/uploads/2011/11/offbeat_fridge2_600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82640" y="1196339"/>
            <a:ext cx="3081527" cy="36987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93185" y="1393316"/>
            <a:ext cx="3599179" cy="1069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3807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Wearable </a:t>
            </a:r>
            <a:r>
              <a:rPr sz="1800" dirty="0">
                <a:latin typeface="Times New Roman"/>
                <a:cs typeface="Times New Roman"/>
              </a:rPr>
              <a:t>Tech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Devices</a:t>
            </a:r>
            <a:endParaRPr sz="1800" dirty="0">
              <a:latin typeface="Times New Roman"/>
              <a:cs typeface="Times New Roman"/>
            </a:endParaRPr>
          </a:p>
          <a:p>
            <a:pPr marL="1989455">
              <a:lnSpc>
                <a:spcPct val="100000"/>
              </a:lnSpc>
              <a:spcBef>
                <a:spcPts val="1739"/>
              </a:spcBef>
            </a:pPr>
            <a:r>
              <a:rPr sz="1800" spc="-10" dirty="0">
                <a:latin typeface="Times New Roman"/>
                <a:cs typeface="Times New Roman"/>
              </a:rPr>
              <a:t>Smart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Appliances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0767" y="6173825"/>
            <a:ext cx="1021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Healthcare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8600" y="3968496"/>
            <a:ext cx="3732276" cy="2051304"/>
          </a:xfrm>
          <a:prstGeom prst="rect">
            <a:avLst/>
          </a:prstGeom>
        </p:spPr>
      </p:pic>
      <p:grpSp>
        <p:nvGrpSpPr>
          <p:cNvPr id="9" name="object 9" descr="Image result for iot in industry"/>
          <p:cNvGrpSpPr/>
          <p:nvPr/>
        </p:nvGrpSpPr>
        <p:grpSpPr>
          <a:xfrm>
            <a:off x="4366259" y="3997452"/>
            <a:ext cx="2440305" cy="2394585"/>
            <a:chOff x="4366259" y="3997452"/>
            <a:chExt cx="2440305" cy="2394585"/>
          </a:xfrm>
        </p:grpSpPr>
        <p:pic>
          <p:nvPicPr>
            <p:cNvPr id="10" name="object 10" descr="Image result for iot in industry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2167" y="4023360"/>
              <a:ext cx="2388108" cy="234238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79213" y="4010406"/>
              <a:ext cx="2414270" cy="2368550"/>
            </a:xfrm>
            <a:custGeom>
              <a:avLst/>
              <a:gdLst/>
              <a:ahLst/>
              <a:cxnLst/>
              <a:rect l="l" t="t" r="r" b="b"/>
              <a:pathLst>
                <a:path w="2414270" h="2368550">
                  <a:moveTo>
                    <a:pt x="0" y="2368296"/>
                  </a:moveTo>
                  <a:lnTo>
                    <a:pt x="2414016" y="2368296"/>
                  </a:lnTo>
                  <a:lnTo>
                    <a:pt x="2414016" y="0"/>
                  </a:lnTo>
                  <a:lnTo>
                    <a:pt x="0" y="0"/>
                  </a:lnTo>
                  <a:lnTo>
                    <a:pt x="0" y="2368296"/>
                  </a:lnTo>
                  <a:close/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88226" y="5714491"/>
            <a:ext cx="19215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Industry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Automation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Monitoring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6553" y="247844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</a:t>
            </a:r>
            <a:r>
              <a:rPr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</a:p>
        </p:txBody>
      </p:sp>
      <p:sp>
        <p:nvSpPr>
          <p:cNvPr id="75" name="object 7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77" name="object 7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66801" y="6164376"/>
            <a:ext cx="35509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Calibri"/>
                <a:cs typeface="Calibri"/>
              </a:rPr>
              <a:t>Source</a:t>
            </a:r>
            <a:r>
              <a:rPr sz="1000" dirty="0">
                <a:latin typeface="Calibri"/>
                <a:cs typeface="Calibri"/>
              </a:rPr>
              <a:t>:</a:t>
            </a:r>
            <a:r>
              <a:rPr sz="1000" spc="-40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https://growthenabler.com/flipbook/pdf/IOT%20Report.pdf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25789" y="1048321"/>
            <a:ext cx="4445635" cy="4633595"/>
            <a:chOff x="2125789" y="1048321"/>
            <a:chExt cx="4445635" cy="46335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7147" y="1412747"/>
              <a:ext cx="4244237" cy="42687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130551" y="1053083"/>
              <a:ext cx="1617980" cy="360045"/>
            </a:xfrm>
            <a:custGeom>
              <a:avLst/>
              <a:gdLst/>
              <a:ahLst/>
              <a:cxnLst/>
              <a:rect l="l" t="t" r="r" b="b"/>
              <a:pathLst>
                <a:path w="1617979" h="360044">
                  <a:moveTo>
                    <a:pt x="1617472" y="360044"/>
                  </a:moveTo>
                  <a:lnTo>
                    <a:pt x="5715" y="360044"/>
                  </a:lnTo>
                  <a:lnTo>
                    <a:pt x="5715" y="0"/>
                  </a:lnTo>
                  <a:lnTo>
                    <a:pt x="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21738" y="1070864"/>
            <a:ext cx="1304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Smart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Homes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3815" y="2314447"/>
            <a:ext cx="1028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Wearables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1123" y="2321051"/>
            <a:ext cx="1801495" cy="1911985"/>
          </a:xfrm>
          <a:custGeom>
            <a:avLst/>
            <a:gdLst/>
            <a:ahLst/>
            <a:cxnLst/>
            <a:rect l="l" t="t" r="r" b="b"/>
            <a:pathLst>
              <a:path w="1801495" h="1911985">
                <a:moveTo>
                  <a:pt x="1801114" y="344550"/>
                </a:moveTo>
                <a:lnTo>
                  <a:pt x="524497" y="344550"/>
                </a:lnTo>
                <a:lnTo>
                  <a:pt x="524497" y="0"/>
                </a:lnTo>
                <a:lnTo>
                  <a:pt x="524256" y="0"/>
                </a:lnTo>
              </a:path>
              <a:path w="1801495" h="1911985">
                <a:moveTo>
                  <a:pt x="0" y="1911604"/>
                </a:moveTo>
                <a:lnTo>
                  <a:pt x="342" y="1911604"/>
                </a:lnTo>
                <a:lnTo>
                  <a:pt x="342" y="1542288"/>
                </a:lnTo>
                <a:lnTo>
                  <a:pt x="1715262" y="154228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0473" y="3882008"/>
            <a:ext cx="1489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Connected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Cars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76400" y="5661659"/>
            <a:ext cx="4013835" cy="448309"/>
          </a:xfrm>
          <a:custGeom>
            <a:avLst/>
            <a:gdLst/>
            <a:ahLst/>
            <a:cxnLst/>
            <a:rect l="l" t="t" r="r" b="b"/>
            <a:pathLst>
              <a:path w="4013835" h="448310">
                <a:moveTo>
                  <a:pt x="0" y="10667"/>
                </a:moveTo>
                <a:lnTo>
                  <a:pt x="1724787" y="10667"/>
                </a:lnTo>
              </a:path>
              <a:path w="4013835" h="448310">
                <a:moveTo>
                  <a:pt x="2679191" y="0"/>
                </a:moveTo>
                <a:lnTo>
                  <a:pt x="2686050" y="0"/>
                </a:lnTo>
                <a:lnTo>
                  <a:pt x="2686050" y="447916"/>
                </a:lnTo>
                <a:lnTo>
                  <a:pt x="4013835" y="44791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512309" y="5752591"/>
            <a:ext cx="1163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Smart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Cities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16623" y="4908803"/>
            <a:ext cx="726440" cy="371475"/>
          </a:xfrm>
          <a:custGeom>
            <a:avLst/>
            <a:gdLst/>
            <a:ahLst/>
            <a:cxnLst/>
            <a:rect l="l" t="t" r="r" b="b"/>
            <a:pathLst>
              <a:path w="726440" h="371475">
                <a:moveTo>
                  <a:pt x="0" y="0"/>
                </a:moveTo>
                <a:lnTo>
                  <a:pt x="725043" y="0"/>
                </a:lnTo>
                <a:lnTo>
                  <a:pt x="725043" y="371094"/>
                </a:lnTo>
                <a:lnTo>
                  <a:pt x="726058" y="371094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092444" y="4947361"/>
            <a:ext cx="1056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Healthcare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82156" y="3547871"/>
            <a:ext cx="1715770" cy="457834"/>
          </a:xfrm>
          <a:custGeom>
            <a:avLst/>
            <a:gdLst/>
            <a:ahLst/>
            <a:cxnLst/>
            <a:rect l="l" t="t" r="r" b="b"/>
            <a:pathLst>
              <a:path w="1715770" h="457835">
                <a:moveTo>
                  <a:pt x="0" y="0"/>
                </a:moveTo>
                <a:lnTo>
                  <a:pt x="1702689" y="0"/>
                </a:lnTo>
                <a:lnTo>
                  <a:pt x="1702689" y="457707"/>
                </a:lnTo>
                <a:lnTo>
                  <a:pt x="1715262" y="45770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710933" y="3609797"/>
            <a:ext cx="12738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Industrial</a:t>
            </a:r>
            <a:r>
              <a:rPr sz="18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IoT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80047" y="2232660"/>
            <a:ext cx="1706245" cy="0"/>
          </a:xfrm>
          <a:custGeom>
            <a:avLst/>
            <a:gdLst/>
            <a:ahLst/>
            <a:cxnLst/>
            <a:rect l="l" t="t" r="r" b="b"/>
            <a:pathLst>
              <a:path w="1706245">
                <a:moveTo>
                  <a:pt x="0" y="0"/>
                </a:moveTo>
                <a:lnTo>
                  <a:pt x="1705991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500621" y="2294001"/>
            <a:ext cx="1386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Smart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Utilities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&amp;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 Energy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73903" y="1132332"/>
            <a:ext cx="938530" cy="290195"/>
          </a:xfrm>
          <a:custGeom>
            <a:avLst/>
            <a:gdLst/>
            <a:ahLst/>
            <a:cxnLst/>
            <a:rect l="l" t="t" r="r" b="b"/>
            <a:pathLst>
              <a:path w="938529" h="290194">
                <a:moveTo>
                  <a:pt x="4063" y="289940"/>
                </a:moveTo>
                <a:lnTo>
                  <a:pt x="0" y="289940"/>
                </a:lnTo>
                <a:lnTo>
                  <a:pt x="0" y="0"/>
                </a:lnTo>
                <a:lnTo>
                  <a:pt x="93802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234685" y="1150746"/>
            <a:ext cx="568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Retail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57657" y="5702705"/>
            <a:ext cx="949960" cy="572135"/>
            <a:chOff x="5757657" y="5702705"/>
            <a:chExt cx="949960" cy="57213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7657" y="5702705"/>
              <a:ext cx="949468" cy="51533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56731" y="5713476"/>
              <a:ext cx="749833" cy="5608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95771" y="5721096"/>
              <a:ext cx="877824" cy="44348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795771" y="5721096"/>
              <a:ext cx="878205" cy="443865"/>
            </a:xfrm>
            <a:custGeom>
              <a:avLst/>
              <a:gdLst/>
              <a:ahLst/>
              <a:cxnLst/>
              <a:rect l="l" t="t" r="r" b="b"/>
              <a:pathLst>
                <a:path w="878204" h="443864">
                  <a:moveTo>
                    <a:pt x="0" y="221741"/>
                  </a:moveTo>
                  <a:lnTo>
                    <a:pt x="15675" y="162793"/>
                  </a:lnTo>
                  <a:lnTo>
                    <a:pt x="59915" y="109823"/>
                  </a:lnTo>
                  <a:lnTo>
                    <a:pt x="91441" y="86241"/>
                  </a:lnTo>
                  <a:lnTo>
                    <a:pt x="128539" y="64946"/>
                  </a:lnTo>
                  <a:lnTo>
                    <a:pt x="170689" y="46202"/>
                  </a:lnTo>
                  <a:lnTo>
                    <a:pt x="217367" y="30273"/>
                  </a:lnTo>
                  <a:lnTo>
                    <a:pt x="268051" y="17425"/>
                  </a:lnTo>
                  <a:lnTo>
                    <a:pt x="322218" y="7920"/>
                  </a:lnTo>
                  <a:lnTo>
                    <a:pt x="379346" y="2024"/>
                  </a:lnTo>
                  <a:lnTo>
                    <a:pt x="438912" y="0"/>
                  </a:lnTo>
                  <a:lnTo>
                    <a:pt x="498477" y="2024"/>
                  </a:lnTo>
                  <a:lnTo>
                    <a:pt x="555605" y="7920"/>
                  </a:lnTo>
                  <a:lnTo>
                    <a:pt x="609772" y="17425"/>
                  </a:lnTo>
                  <a:lnTo>
                    <a:pt x="660456" y="30273"/>
                  </a:lnTo>
                  <a:lnTo>
                    <a:pt x="707134" y="46202"/>
                  </a:lnTo>
                  <a:lnTo>
                    <a:pt x="749284" y="64946"/>
                  </a:lnTo>
                  <a:lnTo>
                    <a:pt x="786382" y="86241"/>
                  </a:lnTo>
                  <a:lnTo>
                    <a:pt x="817908" y="109823"/>
                  </a:lnTo>
                  <a:lnTo>
                    <a:pt x="862148" y="162793"/>
                  </a:lnTo>
                  <a:lnTo>
                    <a:pt x="877824" y="221741"/>
                  </a:lnTo>
                  <a:lnTo>
                    <a:pt x="873817" y="251831"/>
                  </a:lnTo>
                  <a:lnTo>
                    <a:pt x="843337" y="308054"/>
                  </a:lnTo>
                  <a:lnTo>
                    <a:pt x="786382" y="357242"/>
                  </a:lnTo>
                  <a:lnTo>
                    <a:pt x="749284" y="378537"/>
                  </a:lnTo>
                  <a:lnTo>
                    <a:pt x="707134" y="397281"/>
                  </a:lnTo>
                  <a:lnTo>
                    <a:pt x="660456" y="413210"/>
                  </a:lnTo>
                  <a:lnTo>
                    <a:pt x="609772" y="426058"/>
                  </a:lnTo>
                  <a:lnTo>
                    <a:pt x="555605" y="435563"/>
                  </a:lnTo>
                  <a:lnTo>
                    <a:pt x="498477" y="441459"/>
                  </a:lnTo>
                  <a:lnTo>
                    <a:pt x="438912" y="443483"/>
                  </a:lnTo>
                  <a:lnTo>
                    <a:pt x="379346" y="441459"/>
                  </a:lnTo>
                  <a:lnTo>
                    <a:pt x="322218" y="435563"/>
                  </a:lnTo>
                  <a:lnTo>
                    <a:pt x="268051" y="426058"/>
                  </a:lnTo>
                  <a:lnTo>
                    <a:pt x="217367" y="413210"/>
                  </a:lnTo>
                  <a:lnTo>
                    <a:pt x="170689" y="397281"/>
                  </a:lnTo>
                  <a:lnTo>
                    <a:pt x="128539" y="378537"/>
                  </a:lnTo>
                  <a:lnTo>
                    <a:pt x="91441" y="357242"/>
                  </a:lnTo>
                  <a:lnTo>
                    <a:pt x="59915" y="333660"/>
                  </a:lnTo>
                  <a:lnTo>
                    <a:pt x="15675" y="280690"/>
                  </a:lnTo>
                  <a:lnTo>
                    <a:pt x="0" y="221741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024753" y="5779719"/>
            <a:ext cx="421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26%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321232" y="4841632"/>
            <a:ext cx="1071880" cy="572135"/>
            <a:chOff x="7321232" y="4841632"/>
            <a:chExt cx="1071880" cy="572135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21232" y="4841632"/>
              <a:ext cx="1071511" cy="51533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24928" y="4852403"/>
              <a:ext cx="864107" cy="56084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59396" y="4860036"/>
              <a:ext cx="999744" cy="44348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359396" y="4860036"/>
              <a:ext cx="1000125" cy="443865"/>
            </a:xfrm>
            <a:custGeom>
              <a:avLst/>
              <a:gdLst/>
              <a:ahLst/>
              <a:cxnLst/>
              <a:rect l="l" t="t" r="r" b="b"/>
              <a:pathLst>
                <a:path w="1000125" h="443864">
                  <a:moveTo>
                    <a:pt x="0" y="221741"/>
                  </a:moveTo>
                  <a:lnTo>
                    <a:pt x="15264" y="167155"/>
                  </a:lnTo>
                  <a:lnTo>
                    <a:pt x="58562" y="117516"/>
                  </a:lnTo>
                  <a:lnTo>
                    <a:pt x="89553" y="95072"/>
                  </a:lnTo>
                  <a:lnTo>
                    <a:pt x="126147" y="74489"/>
                  </a:lnTo>
                  <a:lnTo>
                    <a:pt x="167876" y="55975"/>
                  </a:lnTo>
                  <a:lnTo>
                    <a:pt x="214272" y="39738"/>
                  </a:lnTo>
                  <a:lnTo>
                    <a:pt x="264868" y="25987"/>
                  </a:lnTo>
                  <a:lnTo>
                    <a:pt x="319193" y="14930"/>
                  </a:lnTo>
                  <a:lnTo>
                    <a:pt x="376781" y="6774"/>
                  </a:lnTo>
                  <a:lnTo>
                    <a:pt x="437163" y="1728"/>
                  </a:lnTo>
                  <a:lnTo>
                    <a:pt x="499872" y="0"/>
                  </a:lnTo>
                  <a:lnTo>
                    <a:pt x="562580" y="1728"/>
                  </a:lnTo>
                  <a:lnTo>
                    <a:pt x="622962" y="6774"/>
                  </a:lnTo>
                  <a:lnTo>
                    <a:pt x="680550" y="14930"/>
                  </a:lnTo>
                  <a:lnTo>
                    <a:pt x="734875" y="25987"/>
                  </a:lnTo>
                  <a:lnTo>
                    <a:pt x="785471" y="39738"/>
                  </a:lnTo>
                  <a:lnTo>
                    <a:pt x="831867" y="55975"/>
                  </a:lnTo>
                  <a:lnTo>
                    <a:pt x="873596" y="74489"/>
                  </a:lnTo>
                  <a:lnTo>
                    <a:pt x="910190" y="95072"/>
                  </a:lnTo>
                  <a:lnTo>
                    <a:pt x="941181" y="117516"/>
                  </a:lnTo>
                  <a:lnTo>
                    <a:pt x="984479" y="167155"/>
                  </a:lnTo>
                  <a:lnTo>
                    <a:pt x="999744" y="221741"/>
                  </a:lnTo>
                  <a:lnTo>
                    <a:pt x="995849" y="249549"/>
                  </a:lnTo>
                  <a:lnTo>
                    <a:pt x="966100" y="301870"/>
                  </a:lnTo>
                  <a:lnTo>
                    <a:pt x="910190" y="348411"/>
                  </a:lnTo>
                  <a:lnTo>
                    <a:pt x="873596" y="368994"/>
                  </a:lnTo>
                  <a:lnTo>
                    <a:pt x="831867" y="387508"/>
                  </a:lnTo>
                  <a:lnTo>
                    <a:pt x="785471" y="403745"/>
                  </a:lnTo>
                  <a:lnTo>
                    <a:pt x="734875" y="417496"/>
                  </a:lnTo>
                  <a:lnTo>
                    <a:pt x="680550" y="428553"/>
                  </a:lnTo>
                  <a:lnTo>
                    <a:pt x="622962" y="436709"/>
                  </a:lnTo>
                  <a:lnTo>
                    <a:pt x="562580" y="441755"/>
                  </a:lnTo>
                  <a:lnTo>
                    <a:pt x="499872" y="443483"/>
                  </a:lnTo>
                  <a:lnTo>
                    <a:pt x="437163" y="441755"/>
                  </a:lnTo>
                  <a:lnTo>
                    <a:pt x="376781" y="436709"/>
                  </a:lnTo>
                  <a:lnTo>
                    <a:pt x="319193" y="428553"/>
                  </a:lnTo>
                  <a:lnTo>
                    <a:pt x="264868" y="417496"/>
                  </a:lnTo>
                  <a:lnTo>
                    <a:pt x="214272" y="403745"/>
                  </a:lnTo>
                  <a:lnTo>
                    <a:pt x="167876" y="387508"/>
                  </a:lnTo>
                  <a:lnTo>
                    <a:pt x="126147" y="368994"/>
                  </a:lnTo>
                  <a:lnTo>
                    <a:pt x="89553" y="348411"/>
                  </a:lnTo>
                  <a:lnTo>
                    <a:pt x="58562" y="325967"/>
                  </a:lnTo>
                  <a:lnTo>
                    <a:pt x="15264" y="276328"/>
                  </a:lnTo>
                  <a:lnTo>
                    <a:pt x="0" y="22174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592694" y="4917694"/>
            <a:ext cx="534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20%*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954011" y="3960863"/>
            <a:ext cx="967740" cy="581025"/>
            <a:chOff x="6954011" y="3960863"/>
            <a:chExt cx="967740" cy="581025"/>
          </a:xfrm>
        </p:grpSpPr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54011" y="3960863"/>
              <a:ext cx="967727" cy="53341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2215" y="3980675"/>
              <a:ext cx="749833" cy="56084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01255" y="3988307"/>
              <a:ext cx="877824" cy="44348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001255" y="3988307"/>
              <a:ext cx="878205" cy="443865"/>
            </a:xfrm>
            <a:custGeom>
              <a:avLst/>
              <a:gdLst/>
              <a:ahLst/>
              <a:cxnLst/>
              <a:rect l="l" t="t" r="r" b="b"/>
              <a:pathLst>
                <a:path w="878204" h="443864">
                  <a:moveTo>
                    <a:pt x="0" y="221742"/>
                  </a:moveTo>
                  <a:lnTo>
                    <a:pt x="15675" y="162806"/>
                  </a:lnTo>
                  <a:lnTo>
                    <a:pt x="59915" y="109840"/>
                  </a:lnTo>
                  <a:lnTo>
                    <a:pt x="91441" y="86257"/>
                  </a:lnTo>
                  <a:lnTo>
                    <a:pt x="128539" y="64960"/>
                  </a:lnTo>
                  <a:lnTo>
                    <a:pt x="170689" y="46213"/>
                  </a:lnTo>
                  <a:lnTo>
                    <a:pt x="217367" y="30282"/>
                  </a:lnTo>
                  <a:lnTo>
                    <a:pt x="268051" y="17430"/>
                  </a:lnTo>
                  <a:lnTo>
                    <a:pt x="322218" y="7923"/>
                  </a:lnTo>
                  <a:lnTo>
                    <a:pt x="379346" y="2024"/>
                  </a:lnTo>
                  <a:lnTo>
                    <a:pt x="438912" y="0"/>
                  </a:lnTo>
                  <a:lnTo>
                    <a:pt x="498477" y="2024"/>
                  </a:lnTo>
                  <a:lnTo>
                    <a:pt x="555605" y="7923"/>
                  </a:lnTo>
                  <a:lnTo>
                    <a:pt x="609772" y="17430"/>
                  </a:lnTo>
                  <a:lnTo>
                    <a:pt x="660456" y="30282"/>
                  </a:lnTo>
                  <a:lnTo>
                    <a:pt x="707134" y="46213"/>
                  </a:lnTo>
                  <a:lnTo>
                    <a:pt x="749284" y="64960"/>
                  </a:lnTo>
                  <a:lnTo>
                    <a:pt x="786382" y="86257"/>
                  </a:lnTo>
                  <a:lnTo>
                    <a:pt x="817908" y="109840"/>
                  </a:lnTo>
                  <a:lnTo>
                    <a:pt x="862148" y="162806"/>
                  </a:lnTo>
                  <a:lnTo>
                    <a:pt x="877824" y="221742"/>
                  </a:lnTo>
                  <a:lnTo>
                    <a:pt x="873817" y="251823"/>
                  </a:lnTo>
                  <a:lnTo>
                    <a:pt x="843337" y="308038"/>
                  </a:lnTo>
                  <a:lnTo>
                    <a:pt x="786382" y="357226"/>
                  </a:lnTo>
                  <a:lnTo>
                    <a:pt x="749284" y="378523"/>
                  </a:lnTo>
                  <a:lnTo>
                    <a:pt x="707134" y="397270"/>
                  </a:lnTo>
                  <a:lnTo>
                    <a:pt x="660456" y="413201"/>
                  </a:lnTo>
                  <a:lnTo>
                    <a:pt x="609772" y="426053"/>
                  </a:lnTo>
                  <a:lnTo>
                    <a:pt x="555605" y="435560"/>
                  </a:lnTo>
                  <a:lnTo>
                    <a:pt x="498477" y="441459"/>
                  </a:lnTo>
                  <a:lnTo>
                    <a:pt x="438912" y="443484"/>
                  </a:lnTo>
                  <a:lnTo>
                    <a:pt x="379346" y="441459"/>
                  </a:lnTo>
                  <a:lnTo>
                    <a:pt x="322218" y="435560"/>
                  </a:lnTo>
                  <a:lnTo>
                    <a:pt x="268051" y="426053"/>
                  </a:lnTo>
                  <a:lnTo>
                    <a:pt x="217367" y="413201"/>
                  </a:lnTo>
                  <a:lnTo>
                    <a:pt x="170689" y="397270"/>
                  </a:lnTo>
                  <a:lnTo>
                    <a:pt x="128539" y="378523"/>
                  </a:lnTo>
                  <a:lnTo>
                    <a:pt x="91441" y="357226"/>
                  </a:lnTo>
                  <a:lnTo>
                    <a:pt x="59915" y="333643"/>
                  </a:lnTo>
                  <a:lnTo>
                    <a:pt x="15675" y="280677"/>
                  </a:lnTo>
                  <a:lnTo>
                    <a:pt x="0" y="22174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230618" y="4045661"/>
            <a:ext cx="4210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24%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543785" y="2618154"/>
            <a:ext cx="949960" cy="572135"/>
            <a:chOff x="7543785" y="2618154"/>
            <a:chExt cx="949960" cy="572135"/>
          </a:xfrm>
        </p:grpSpPr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43785" y="2618154"/>
              <a:ext cx="949468" cy="51679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00771" y="2628887"/>
              <a:ext cx="633996" cy="56084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581899" y="2636520"/>
              <a:ext cx="877824" cy="44500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581899" y="2636520"/>
              <a:ext cx="878205" cy="445134"/>
            </a:xfrm>
            <a:custGeom>
              <a:avLst/>
              <a:gdLst/>
              <a:ahLst/>
              <a:cxnLst/>
              <a:rect l="l" t="t" r="r" b="b"/>
              <a:pathLst>
                <a:path w="878204" h="445135">
                  <a:moveTo>
                    <a:pt x="0" y="222503"/>
                  </a:moveTo>
                  <a:lnTo>
                    <a:pt x="15675" y="163336"/>
                  </a:lnTo>
                  <a:lnTo>
                    <a:pt x="59915" y="110179"/>
                  </a:lnTo>
                  <a:lnTo>
                    <a:pt x="91441" y="86516"/>
                  </a:lnTo>
                  <a:lnTo>
                    <a:pt x="128539" y="65150"/>
                  </a:lnTo>
                  <a:lnTo>
                    <a:pt x="170689" y="46346"/>
                  </a:lnTo>
                  <a:lnTo>
                    <a:pt x="217367" y="30367"/>
                  </a:lnTo>
                  <a:lnTo>
                    <a:pt x="268051" y="17478"/>
                  </a:lnTo>
                  <a:lnTo>
                    <a:pt x="322218" y="7944"/>
                  </a:lnTo>
                  <a:lnTo>
                    <a:pt x="379346" y="2030"/>
                  </a:lnTo>
                  <a:lnTo>
                    <a:pt x="438911" y="0"/>
                  </a:lnTo>
                  <a:lnTo>
                    <a:pt x="498477" y="2030"/>
                  </a:lnTo>
                  <a:lnTo>
                    <a:pt x="555605" y="7944"/>
                  </a:lnTo>
                  <a:lnTo>
                    <a:pt x="609772" y="17478"/>
                  </a:lnTo>
                  <a:lnTo>
                    <a:pt x="660456" y="30367"/>
                  </a:lnTo>
                  <a:lnTo>
                    <a:pt x="707134" y="46346"/>
                  </a:lnTo>
                  <a:lnTo>
                    <a:pt x="749284" y="65150"/>
                  </a:lnTo>
                  <a:lnTo>
                    <a:pt x="786382" y="86516"/>
                  </a:lnTo>
                  <a:lnTo>
                    <a:pt x="817908" y="110179"/>
                  </a:lnTo>
                  <a:lnTo>
                    <a:pt x="862148" y="163336"/>
                  </a:lnTo>
                  <a:lnTo>
                    <a:pt x="877824" y="222503"/>
                  </a:lnTo>
                  <a:lnTo>
                    <a:pt x="873817" y="252707"/>
                  </a:lnTo>
                  <a:lnTo>
                    <a:pt x="843337" y="309133"/>
                  </a:lnTo>
                  <a:lnTo>
                    <a:pt x="786382" y="358491"/>
                  </a:lnTo>
                  <a:lnTo>
                    <a:pt x="749284" y="379857"/>
                  </a:lnTo>
                  <a:lnTo>
                    <a:pt x="707134" y="398661"/>
                  </a:lnTo>
                  <a:lnTo>
                    <a:pt x="660456" y="414640"/>
                  </a:lnTo>
                  <a:lnTo>
                    <a:pt x="609772" y="427529"/>
                  </a:lnTo>
                  <a:lnTo>
                    <a:pt x="555605" y="437063"/>
                  </a:lnTo>
                  <a:lnTo>
                    <a:pt x="498477" y="442977"/>
                  </a:lnTo>
                  <a:lnTo>
                    <a:pt x="438911" y="445007"/>
                  </a:lnTo>
                  <a:lnTo>
                    <a:pt x="379346" y="442977"/>
                  </a:lnTo>
                  <a:lnTo>
                    <a:pt x="322218" y="437063"/>
                  </a:lnTo>
                  <a:lnTo>
                    <a:pt x="268051" y="427529"/>
                  </a:lnTo>
                  <a:lnTo>
                    <a:pt x="217367" y="414640"/>
                  </a:lnTo>
                  <a:lnTo>
                    <a:pt x="170689" y="398661"/>
                  </a:lnTo>
                  <a:lnTo>
                    <a:pt x="128539" y="379856"/>
                  </a:lnTo>
                  <a:lnTo>
                    <a:pt x="91441" y="358491"/>
                  </a:lnTo>
                  <a:lnTo>
                    <a:pt x="59915" y="334828"/>
                  </a:lnTo>
                  <a:lnTo>
                    <a:pt x="15675" y="281671"/>
                  </a:lnTo>
                  <a:lnTo>
                    <a:pt x="0" y="222503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869428" y="2694254"/>
            <a:ext cx="304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4%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062213" y="1034680"/>
            <a:ext cx="949960" cy="572135"/>
            <a:chOff x="1062213" y="1034680"/>
            <a:chExt cx="949960" cy="572135"/>
          </a:xfrm>
        </p:grpSpPr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213" y="1034680"/>
              <a:ext cx="949468" cy="51533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61287" y="1045451"/>
              <a:ext cx="749833" cy="56084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00327" y="1053083"/>
              <a:ext cx="877823" cy="443483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100327" y="1053083"/>
              <a:ext cx="878205" cy="443865"/>
            </a:xfrm>
            <a:custGeom>
              <a:avLst/>
              <a:gdLst/>
              <a:ahLst/>
              <a:cxnLst/>
              <a:rect l="l" t="t" r="r" b="b"/>
              <a:pathLst>
                <a:path w="878205" h="443865">
                  <a:moveTo>
                    <a:pt x="0" y="221741"/>
                  </a:moveTo>
                  <a:lnTo>
                    <a:pt x="15675" y="162806"/>
                  </a:lnTo>
                  <a:lnTo>
                    <a:pt x="59915" y="109840"/>
                  </a:lnTo>
                  <a:lnTo>
                    <a:pt x="91441" y="86257"/>
                  </a:lnTo>
                  <a:lnTo>
                    <a:pt x="128539" y="64960"/>
                  </a:lnTo>
                  <a:lnTo>
                    <a:pt x="170689" y="46213"/>
                  </a:lnTo>
                  <a:lnTo>
                    <a:pt x="217367" y="30282"/>
                  </a:lnTo>
                  <a:lnTo>
                    <a:pt x="268051" y="17430"/>
                  </a:lnTo>
                  <a:lnTo>
                    <a:pt x="322218" y="7923"/>
                  </a:lnTo>
                  <a:lnTo>
                    <a:pt x="379346" y="2024"/>
                  </a:lnTo>
                  <a:lnTo>
                    <a:pt x="438912" y="0"/>
                  </a:lnTo>
                  <a:lnTo>
                    <a:pt x="498477" y="2024"/>
                  </a:lnTo>
                  <a:lnTo>
                    <a:pt x="555605" y="7923"/>
                  </a:lnTo>
                  <a:lnTo>
                    <a:pt x="609772" y="17430"/>
                  </a:lnTo>
                  <a:lnTo>
                    <a:pt x="660456" y="30282"/>
                  </a:lnTo>
                  <a:lnTo>
                    <a:pt x="707134" y="46213"/>
                  </a:lnTo>
                  <a:lnTo>
                    <a:pt x="749284" y="64960"/>
                  </a:lnTo>
                  <a:lnTo>
                    <a:pt x="786382" y="86257"/>
                  </a:lnTo>
                  <a:lnTo>
                    <a:pt x="817908" y="109840"/>
                  </a:lnTo>
                  <a:lnTo>
                    <a:pt x="862148" y="162806"/>
                  </a:lnTo>
                  <a:lnTo>
                    <a:pt x="877823" y="221741"/>
                  </a:lnTo>
                  <a:lnTo>
                    <a:pt x="873817" y="251823"/>
                  </a:lnTo>
                  <a:lnTo>
                    <a:pt x="843337" y="308038"/>
                  </a:lnTo>
                  <a:lnTo>
                    <a:pt x="786382" y="357226"/>
                  </a:lnTo>
                  <a:lnTo>
                    <a:pt x="749284" y="378523"/>
                  </a:lnTo>
                  <a:lnTo>
                    <a:pt x="707134" y="397270"/>
                  </a:lnTo>
                  <a:lnTo>
                    <a:pt x="660456" y="413201"/>
                  </a:lnTo>
                  <a:lnTo>
                    <a:pt x="609772" y="426053"/>
                  </a:lnTo>
                  <a:lnTo>
                    <a:pt x="555605" y="435560"/>
                  </a:lnTo>
                  <a:lnTo>
                    <a:pt x="498477" y="441459"/>
                  </a:lnTo>
                  <a:lnTo>
                    <a:pt x="438912" y="443483"/>
                  </a:lnTo>
                  <a:lnTo>
                    <a:pt x="379346" y="441459"/>
                  </a:lnTo>
                  <a:lnTo>
                    <a:pt x="322218" y="435560"/>
                  </a:lnTo>
                  <a:lnTo>
                    <a:pt x="268051" y="426053"/>
                  </a:lnTo>
                  <a:lnTo>
                    <a:pt x="217367" y="413201"/>
                  </a:lnTo>
                  <a:lnTo>
                    <a:pt x="170689" y="397270"/>
                  </a:lnTo>
                  <a:lnTo>
                    <a:pt x="128539" y="378523"/>
                  </a:lnTo>
                  <a:lnTo>
                    <a:pt x="91441" y="357226"/>
                  </a:lnTo>
                  <a:lnTo>
                    <a:pt x="59915" y="333643"/>
                  </a:lnTo>
                  <a:lnTo>
                    <a:pt x="15675" y="280677"/>
                  </a:lnTo>
                  <a:lnTo>
                    <a:pt x="0" y="221741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328419" y="1110234"/>
            <a:ext cx="421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14%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912875" y="3351263"/>
            <a:ext cx="967740" cy="579755"/>
            <a:chOff x="912875" y="3351263"/>
            <a:chExt cx="967740" cy="579755"/>
          </a:xfrm>
        </p:grpSpPr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75" y="3351263"/>
              <a:ext cx="967727" cy="53341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78991" y="3369551"/>
              <a:ext cx="633996" cy="56084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60119" y="3378707"/>
              <a:ext cx="877824" cy="443483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960119" y="3378707"/>
              <a:ext cx="878205" cy="443865"/>
            </a:xfrm>
            <a:custGeom>
              <a:avLst/>
              <a:gdLst/>
              <a:ahLst/>
              <a:cxnLst/>
              <a:rect l="l" t="t" r="r" b="b"/>
              <a:pathLst>
                <a:path w="878205" h="443864">
                  <a:moveTo>
                    <a:pt x="0" y="221741"/>
                  </a:moveTo>
                  <a:lnTo>
                    <a:pt x="15678" y="162806"/>
                  </a:lnTo>
                  <a:lnTo>
                    <a:pt x="59924" y="109840"/>
                  </a:lnTo>
                  <a:lnTo>
                    <a:pt x="91452" y="86257"/>
                  </a:lnTo>
                  <a:lnTo>
                    <a:pt x="128554" y="64960"/>
                  </a:lnTo>
                  <a:lnTo>
                    <a:pt x="170705" y="46213"/>
                  </a:lnTo>
                  <a:lnTo>
                    <a:pt x="217384" y="30282"/>
                  </a:lnTo>
                  <a:lnTo>
                    <a:pt x="268067" y="17430"/>
                  </a:lnTo>
                  <a:lnTo>
                    <a:pt x="322231" y="7923"/>
                  </a:lnTo>
                  <a:lnTo>
                    <a:pt x="379354" y="2024"/>
                  </a:lnTo>
                  <a:lnTo>
                    <a:pt x="438912" y="0"/>
                  </a:lnTo>
                  <a:lnTo>
                    <a:pt x="498477" y="2024"/>
                  </a:lnTo>
                  <a:lnTo>
                    <a:pt x="555605" y="7923"/>
                  </a:lnTo>
                  <a:lnTo>
                    <a:pt x="609772" y="17430"/>
                  </a:lnTo>
                  <a:lnTo>
                    <a:pt x="660456" y="30282"/>
                  </a:lnTo>
                  <a:lnTo>
                    <a:pt x="707134" y="46213"/>
                  </a:lnTo>
                  <a:lnTo>
                    <a:pt x="749284" y="64960"/>
                  </a:lnTo>
                  <a:lnTo>
                    <a:pt x="786382" y="86257"/>
                  </a:lnTo>
                  <a:lnTo>
                    <a:pt x="817908" y="109840"/>
                  </a:lnTo>
                  <a:lnTo>
                    <a:pt x="862148" y="162806"/>
                  </a:lnTo>
                  <a:lnTo>
                    <a:pt x="877824" y="221741"/>
                  </a:lnTo>
                  <a:lnTo>
                    <a:pt x="873817" y="251823"/>
                  </a:lnTo>
                  <a:lnTo>
                    <a:pt x="843337" y="308038"/>
                  </a:lnTo>
                  <a:lnTo>
                    <a:pt x="786382" y="357226"/>
                  </a:lnTo>
                  <a:lnTo>
                    <a:pt x="749284" y="378523"/>
                  </a:lnTo>
                  <a:lnTo>
                    <a:pt x="707134" y="397270"/>
                  </a:lnTo>
                  <a:lnTo>
                    <a:pt x="660456" y="413201"/>
                  </a:lnTo>
                  <a:lnTo>
                    <a:pt x="609772" y="426053"/>
                  </a:lnTo>
                  <a:lnTo>
                    <a:pt x="555605" y="435560"/>
                  </a:lnTo>
                  <a:lnTo>
                    <a:pt x="498477" y="441459"/>
                  </a:lnTo>
                  <a:lnTo>
                    <a:pt x="438912" y="443483"/>
                  </a:lnTo>
                  <a:lnTo>
                    <a:pt x="379354" y="441459"/>
                  </a:lnTo>
                  <a:lnTo>
                    <a:pt x="322231" y="435560"/>
                  </a:lnTo>
                  <a:lnTo>
                    <a:pt x="268067" y="426053"/>
                  </a:lnTo>
                  <a:lnTo>
                    <a:pt x="217384" y="413201"/>
                  </a:lnTo>
                  <a:lnTo>
                    <a:pt x="170705" y="397270"/>
                  </a:lnTo>
                  <a:lnTo>
                    <a:pt x="128554" y="378523"/>
                  </a:lnTo>
                  <a:lnTo>
                    <a:pt x="91452" y="357226"/>
                  </a:lnTo>
                  <a:lnTo>
                    <a:pt x="59924" y="333643"/>
                  </a:lnTo>
                  <a:lnTo>
                    <a:pt x="15678" y="280677"/>
                  </a:lnTo>
                  <a:lnTo>
                    <a:pt x="0" y="221741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246733" y="3436111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7%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002791" y="1784604"/>
            <a:ext cx="967740" cy="581025"/>
            <a:chOff x="1002791" y="1784604"/>
            <a:chExt cx="967740" cy="581025"/>
          </a:xfrm>
        </p:grpSpPr>
        <p:pic>
          <p:nvPicPr>
            <p:cNvPr id="58" name="object 5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02791" y="1784604"/>
              <a:ext cx="967727" cy="53492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68907" y="1804403"/>
              <a:ext cx="633996" cy="56084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50035" y="1812036"/>
              <a:ext cx="877824" cy="445008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050035" y="1812036"/>
              <a:ext cx="878205" cy="445134"/>
            </a:xfrm>
            <a:custGeom>
              <a:avLst/>
              <a:gdLst/>
              <a:ahLst/>
              <a:cxnLst/>
              <a:rect l="l" t="t" r="r" b="b"/>
              <a:pathLst>
                <a:path w="878205" h="445135">
                  <a:moveTo>
                    <a:pt x="0" y="222503"/>
                  </a:moveTo>
                  <a:lnTo>
                    <a:pt x="15678" y="163336"/>
                  </a:lnTo>
                  <a:lnTo>
                    <a:pt x="59924" y="110179"/>
                  </a:lnTo>
                  <a:lnTo>
                    <a:pt x="91452" y="86516"/>
                  </a:lnTo>
                  <a:lnTo>
                    <a:pt x="128554" y="65150"/>
                  </a:lnTo>
                  <a:lnTo>
                    <a:pt x="170705" y="46346"/>
                  </a:lnTo>
                  <a:lnTo>
                    <a:pt x="217384" y="30367"/>
                  </a:lnTo>
                  <a:lnTo>
                    <a:pt x="268067" y="17478"/>
                  </a:lnTo>
                  <a:lnTo>
                    <a:pt x="322231" y="7944"/>
                  </a:lnTo>
                  <a:lnTo>
                    <a:pt x="379354" y="2030"/>
                  </a:lnTo>
                  <a:lnTo>
                    <a:pt x="438911" y="0"/>
                  </a:lnTo>
                  <a:lnTo>
                    <a:pt x="498477" y="2030"/>
                  </a:lnTo>
                  <a:lnTo>
                    <a:pt x="555605" y="7944"/>
                  </a:lnTo>
                  <a:lnTo>
                    <a:pt x="609772" y="17478"/>
                  </a:lnTo>
                  <a:lnTo>
                    <a:pt x="660456" y="30367"/>
                  </a:lnTo>
                  <a:lnTo>
                    <a:pt x="707134" y="46346"/>
                  </a:lnTo>
                  <a:lnTo>
                    <a:pt x="749284" y="65150"/>
                  </a:lnTo>
                  <a:lnTo>
                    <a:pt x="786382" y="86516"/>
                  </a:lnTo>
                  <a:lnTo>
                    <a:pt x="817908" y="110179"/>
                  </a:lnTo>
                  <a:lnTo>
                    <a:pt x="862148" y="163336"/>
                  </a:lnTo>
                  <a:lnTo>
                    <a:pt x="877824" y="222503"/>
                  </a:lnTo>
                  <a:lnTo>
                    <a:pt x="873817" y="252707"/>
                  </a:lnTo>
                  <a:lnTo>
                    <a:pt x="843337" y="309133"/>
                  </a:lnTo>
                  <a:lnTo>
                    <a:pt x="786382" y="358491"/>
                  </a:lnTo>
                  <a:lnTo>
                    <a:pt x="749284" y="379857"/>
                  </a:lnTo>
                  <a:lnTo>
                    <a:pt x="707134" y="398661"/>
                  </a:lnTo>
                  <a:lnTo>
                    <a:pt x="660456" y="414640"/>
                  </a:lnTo>
                  <a:lnTo>
                    <a:pt x="609772" y="427529"/>
                  </a:lnTo>
                  <a:lnTo>
                    <a:pt x="555605" y="437063"/>
                  </a:lnTo>
                  <a:lnTo>
                    <a:pt x="498477" y="442977"/>
                  </a:lnTo>
                  <a:lnTo>
                    <a:pt x="438911" y="445008"/>
                  </a:lnTo>
                  <a:lnTo>
                    <a:pt x="379354" y="442977"/>
                  </a:lnTo>
                  <a:lnTo>
                    <a:pt x="322231" y="437063"/>
                  </a:lnTo>
                  <a:lnTo>
                    <a:pt x="268067" y="427529"/>
                  </a:lnTo>
                  <a:lnTo>
                    <a:pt x="217384" y="414640"/>
                  </a:lnTo>
                  <a:lnTo>
                    <a:pt x="170705" y="398661"/>
                  </a:lnTo>
                  <a:lnTo>
                    <a:pt x="128554" y="379857"/>
                  </a:lnTo>
                  <a:lnTo>
                    <a:pt x="91452" y="358491"/>
                  </a:lnTo>
                  <a:lnTo>
                    <a:pt x="59924" y="334828"/>
                  </a:lnTo>
                  <a:lnTo>
                    <a:pt x="15678" y="281671"/>
                  </a:lnTo>
                  <a:lnTo>
                    <a:pt x="0" y="222503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336294" y="1870328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3%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147512" y="4832488"/>
            <a:ext cx="1153795" cy="570230"/>
            <a:chOff x="1147512" y="4832488"/>
            <a:chExt cx="1153795" cy="570230"/>
          </a:xfrm>
        </p:grpSpPr>
        <p:pic>
          <p:nvPicPr>
            <p:cNvPr id="64" name="object 6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47512" y="4832488"/>
              <a:ext cx="1153798" cy="51533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92351" y="4841735"/>
              <a:ext cx="864108" cy="56084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85671" y="4850892"/>
              <a:ext cx="1082040" cy="443483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185671" y="4850892"/>
              <a:ext cx="1082040" cy="443865"/>
            </a:xfrm>
            <a:custGeom>
              <a:avLst/>
              <a:gdLst/>
              <a:ahLst/>
              <a:cxnLst/>
              <a:rect l="l" t="t" r="r" b="b"/>
              <a:pathLst>
                <a:path w="1082039" h="443864">
                  <a:moveTo>
                    <a:pt x="0" y="221741"/>
                  </a:moveTo>
                  <a:lnTo>
                    <a:pt x="16521" y="167155"/>
                  </a:lnTo>
                  <a:lnTo>
                    <a:pt x="63382" y="117516"/>
                  </a:lnTo>
                  <a:lnTo>
                    <a:pt x="96923" y="95072"/>
                  </a:lnTo>
                  <a:lnTo>
                    <a:pt x="136529" y="74489"/>
                  </a:lnTo>
                  <a:lnTo>
                    <a:pt x="181693" y="55975"/>
                  </a:lnTo>
                  <a:lnTo>
                    <a:pt x="231908" y="39738"/>
                  </a:lnTo>
                  <a:lnTo>
                    <a:pt x="286668" y="25987"/>
                  </a:lnTo>
                  <a:lnTo>
                    <a:pt x="345466" y="14930"/>
                  </a:lnTo>
                  <a:lnTo>
                    <a:pt x="407795" y="6774"/>
                  </a:lnTo>
                  <a:lnTo>
                    <a:pt x="473148" y="1728"/>
                  </a:lnTo>
                  <a:lnTo>
                    <a:pt x="541020" y="0"/>
                  </a:lnTo>
                  <a:lnTo>
                    <a:pt x="608891" y="1728"/>
                  </a:lnTo>
                  <a:lnTo>
                    <a:pt x="674244" y="6774"/>
                  </a:lnTo>
                  <a:lnTo>
                    <a:pt x="736573" y="14930"/>
                  </a:lnTo>
                  <a:lnTo>
                    <a:pt x="795371" y="25987"/>
                  </a:lnTo>
                  <a:lnTo>
                    <a:pt x="850131" y="39738"/>
                  </a:lnTo>
                  <a:lnTo>
                    <a:pt x="900346" y="55975"/>
                  </a:lnTo>
                  <a:lnTo>
                    <a:pt x="945510" y="74489"/>
                  </a:lnTo>
                  <a:lnTo>
                    <a:pt x="985116" y="95072"/>
                  </a:lnTo>
                  <a:lnTo>
                    <a:pt x="1018657" y="117516"/>
                  </a:lnTo>
                  <a:lnTo>
                    <a:pt x="1065518" y="167155"/>
                  </a:lnTo>
                  <a:lnTo>
                    <a:pt x="1082040" y="221741"/>
                  </a:lnTo>
                  <a:lnTo>
                    <a:pt x="1077825" y="249549"/>
                  </a:lnTo>
                  <a:lnTo>
                    <a:pt x="1045627" y="301870"/>
                  </a:lnTo>
                  <a:lnTo>
                    <a:pt x="985116" y="348411"/>
                  </a:lnTo>
                  <a:lnTo>
                    <a:pt x="945510" y="368994"/>
                  </a:lnTo>
                  <a:lnTo>
                    <a:pt x="900346" y="387508"/>
                  </a:lnTo>
                  <a:lnTo>
                    <a:pt x="850131" y="403745"/>
                  </a:lnTo>
                  <a:lnTo>
                    <a:pt x="795371" y="417496"/>
                  </a:lnTo>
                  <a:lnTo>
                    <a:pt x="736573" y="428553"/>
                  </a:lnTo>
                  <a:lnTo>
                    <a:pt x="674244" y="436709"/>
                  </a:lnTo>
                  <a:lnTo>
                    <a:pt x="608891" y="441755"/>
                  </a:lnTo>
                  <a:lnTo>
                    <a:pt x="541020" y="443483"/>
                  </a:lnTo>
                  <a:lnTo>
                    <a:pt x="473148" y="441755"/>
                  </a:lnTo>
                  <a:lnTo>
                    <a:pt x="407795" y="436709"/>
                  </a:lnTo>
                  <a:lnTo>
                    <a:pt x="345466" y="428553"/>
                  </a:lnTo>
                  <a:lnTo>
                    <a:pt x="286668" y="417496"/>
                  </a:lnTo>
                  <a:lnTo>
                    <a:pt x="231908" y="403745"/>
                  </a:lnTo>
                  <a:lnTo>
                    <a:pt x="181693" y="387508"/>
                  </a:lnTo>
                  <a:lnTo>
                    <a:pt x="136529" y="368994"/>
                  </a:lnTo>
                  <a:lnTo>
                    <a:pt x="96923" y="348411"/>
                  </a:lnTo>
                  <a:lnTo>
                    <a:pt x="63382" y="325967"/>
                  </a:lnTo>
                  <a:lnTo>
                    <a:pt x="16521" y="276328"/>
                  </a:lnTo>
                  <a:lnTo>
                    <a:pt x="0" y="221741"/>
                  </a:lnTo>
                  <a:close/>
                </a:path>
              </a:pathLst>
            </a:custGeom>
            <a:ln w="9143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1459230" y="4783835"/>
            <a:ext cx="1812289" cy="823594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20" dirty="0">
                <a:latin typeface="Calibri"/>
                <a:cs typeface="Calibri"/>
              </a:rPr>
              <a:t>20%*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980"/>
              </a:spcBef>
            </a:pPr>
            <a:r>
              <a:rPr sz="1800" b="1" dirty="0">
                <a:latin typeface="Calibri"/>
                <a:cs typeface="Calibri"/>
              </a:rPr>
              <a:t>Personal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Health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5964935" y="1086611"/>
            <a:ext cx="1079500" cy="581025"/>
            <a:chOff x="5964935" y="1086611"/>
            <a:chExt cx="1079500" cy="581025"/>
          </a:xfrm>
        </p:grpSpPr>
        <p:pic>
          <p:nvPicPr>
            <p:cNvPr id="70" name="object 7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964935" y="1086611"/>
              <a:ext cx="1079017" cy="534924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103619" y="1106411"/>
              <a:ext cx="800100" cy="560844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012179" y="1114043"/>
              <a:ext cx="989076" cy="445007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6012179" y="1114043"/>
              <a:ext cx="989330" cy="445134"/>
            </a:xfrm>
            <a:custGeom>
              <a:avLst/>
              <a:gdLst/>
              <a:ahLst/>
              <a:cxnLst/>
              <a:rect l="l" t="t" r="r" b="b"/>
              <a:pathLst>
                <a:path w="989329" h="445134">
                  <a:moveTo>
                    <a:pt x="0" y="222503"/>
                  </a:moveTo>
                  <a:lnTo>
                    <a:pt x="15100" y="167701"/>
                  </a:lnTo>
                  <a:lnTo>
                    <a:pt x="57932" y="117881"/>
                  </a:lnTo>
                  <a:lnTo>
                    <a:pt x="124792" y="74709"/>
                  </a:lnTo>
                  <a:lnTo>
                    <a:pt x="166075" y="56137"/>
                  </a:lnTo>
                  <a:lnTo>
                    <a:pt x="211975" y="39851"/>
                  </a:lnTo>
                  <a:lnTo>
                    <a:pt x="262030" y="26059"/>
                  </a:lnTo>
                  <a:lnTo>
                    <a:pt x="315777" y="14970"/>
                  </a:lnTo>
                  <a:lnTo>
                    <a:pt x="372752" y="6792"/>
                  </a:lnTo>
                  <a:lnTo>
                    <a:pt x="432494" y="1732"/>
                  </a:lnTo>
                  <a:lnTo>
                    <a:pt x="494538" y="0"/>
                  </a:lnTo>
                  <a:lnTo>
                    <a:pt x="556581" y="1732"/>
                  </a:lnTo>
                  <a:lnTo>
                    <a:pt x="616323" y="6792"/>
                  </a:lnTo>
                  <a:lnTo>
                    <a:pt x="673298" y="14970"/>
                  </a:lnTo>
                  <a:lnTo>
                    <a:pt x="727045" y="26059"/>
                  </a:lnTo>
                  <a:lnTo>
                    <a:pt x="777100" y="39851"/>
                  </a:lnTo>
                  <a:lnTo>
                    <a:pt x="823000" y="56137"/>
                  </a:lnTo>
                  <a:lnTo>
                    <a:pt x="864283" y="74709"/>
                  </a:lnTo>
                  <a:lnTo>
                    <a:pt x="900485" y="95360"/>
                  </a:lnTo>
                  <a:lnTo>
                    <a:pt x="955794" y="142064"/>
                  </a:lnTo>
                  <a:lnTo>
                    <a:pt x="985223" y="194583"/>
                  </a:lnTo>
                  <a:lnTo>
                    <a:pt x="989076" y="222503"/>
                  </a:lnTo>
                  <a:lnTo>
                    <a:pt x="985223" y="250424"/>
                  </a:lnTo>
                  <a:lnTo>
                    <a:pt x="955794" y="302943"/>
                  </a:lnTo>
                  <a:lnTo>
                    <a:pt x="900485" y="349647"/>
                  </a:lnTo>
                  <a:lnTo>
                    <a:pt x="864283" y="370298"/>
                  </a:lnTo>
                  <a:lnTo>
                    <a:pt x="823000" y="388870"/>
                  </a:lnTo>
                  <a:lnTo>
                    <a:pt x="777100" y="405156"/>
                  </a:lnTo>
                  <a:lnTo>
                    <a:pt x="727045" y="418948"/>
                  </a:lnTo>
                  <a:lnTo>
                    <a:pt x="673298" y="430037"/>
                  </a:lnTo>
                  <a:lnTo>
                    <a:pt x="616323" y="438215"/>
                  </a:lnTo>
                  <a:lnTo>
                    <a:pt x="556581" y="443275"/>
                  </a:lnTo>
                  <a:lnTo>
                    <a:pt x="494538" y="445007"/>
                  </a:lnTo>
                  <a:lnTo>
                    <a:pt x="432494" y="443275"/>
                  </a:lnTo>
                  <a:lnTo>
                    <a:pt x="372752" y="438215"/>
                  </a:lnTo>
                  <a:lnTo>
                    <a:pt x="315777" y="430037"/>
                  </a:lnTo>
                  <a:lnTo>
                    <a:pt x="262030" y="418948"/>
                  </a:lnTo>
                  <a:lnTo>
                    <a:pt x="211975" y="405156"/>
                  </a:lnTo>
                  <a:lnTo>
                    <a:pt x="166075" y="388870"/>
                  </a:lnTo>
                  <a:lnTo>
                    <a:pt x="124792" y="370298"/>
                  </a:lnTo>
                  <a:lnTo>
                    <a:pt x="88590" y="349647"/>
                  </a:lnTo>
                  <a:lnTo>
                    <a:pt x="33281" y="302943"/>
                  </a:lnTo>
                  <a:lnTo>
                    <a:pt x="3852" y="250424"/>
                  </a:lnTo>
                  <a:lnTo>
                    <a:pt x="0" y="22250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6272276" y="1171143"/>
            <a:ext cx="4711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&lt;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2%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Unlock Free, Secure IoT SSH P2P Android Access: A Guid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765" y="981455"/>
            <a:ext cx="6729886" cy="514654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0814" y="235438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18540" y="6236919"/>
            <a:ext cx="21348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latin typeface="Times New Roman"/>
                <a:cs typeface="Times New Roman"/>
              </a:rPr>
              <a:t>Source</a:t>
            </a:r>
            <a:r>
              <a:rPr sz="1000" spc="-35" dirty="0">
                <a:latin typeface="Times New Roman"/>
                <a:cs typeface="Times New Roman"/>
              </a:rPr>
              <a:t>: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https://sl.bing.net/jncHHWgAj36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200036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3" name="object 3" descr="Smart city concept and internet of things — Stock Vector © monicaodo  #12602565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276" y="998219"/>
            <a:ext cx="7424928" cy="53218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86788" y="6318605"/>
            <a:ext cx="5344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latin typeface="Times New Roman"/>
                <a:cs typeface="Times New Roman"/>
              </a:rPr>
              <a:t>Source</a:t>
            </a:r>
            <a:r>
              <a:rPr sz="1000" spc="-35" dirty="0">
                <a:latin typeface="Times New Roman"/>
                <a:cs typeface="Times New Roman"/>
              </a:rPr>
              <a:t>:</a:t>
            </a:r>
            <a:r>
              <a:rPr sz="1000" spc="355" dirty="0">
                <a:latin typeface="Times New Roman"/>
                <a:cs typeface="Times New Roman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https://depositphotos.com/126025652/stock-illustration-smart-city-concept-and-internet.html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3016" y="1066794"/>
            <a:ext cx="7849234" cy="5163820"/>
            <a:chOff x="573016" y="1066794"/>
            <a:chExt cx="7849234" cy="51638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3016" y="1066794"/>
              <a:ext cx="7848614" cy="516332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123" y="1085088"/>
              <a:ext cx="7776972" cy="50916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1123" y="1085088"/>
              <a:ext cx="7777480" cy="5092065"/>
            </a:xfrm>
            <a:custGeom>
              <a:avLst/>
              <a:gdLst/>
              <a:ahLst/>
              <a:cxnLst/>
              <a:rect l="l" t="t" r="r" b="b"/>
              <a:pathLst>
                <a:path w="7777480" h="5092065">
                  <a:moveTo>
                    <a:pt x="0" y="5091684"/>
                  </a:moveTo>
                  <a:lnTo>
                    <a:pt x="7776972" y="5091684"/>
                  </a:lnTo>
                  <a:lnTo>
                    <a:pt x="7776972" y="0"/>
                  </a:lnTo>
                  <a:lnTo>
                    <a:pt x="0" y="0"/>
                  </a:lnTo>
                  <a:lnTo>
                    <a:pt x="0" y="509168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5903" y="1175004"/>
              <a:ext cx="7505700" cy="488594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01395" y="284197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618540" y="6236919"/>
            <a:ext cx="81934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latin typeface="Times New Roman"/>
                <a:cs typeface="Times New Roman"/>
              </a:rPr>
              <a:t>Source</a:t>
            </a:r>
            <a:r>
              <a:rPr sz="1000" spc="-35" dirty="0">
                <a:latin typeface="Times New Roman"/>
                <a:cs typeface="Times New Roman"/>
              </a:rPr>
              <a:t>:</a:t>
            </a:r>
            <a:r>
              <a:rPr sz="1000" spc="175" dirty="0">
                <a:latin typeface="Times New Roman"/>
                <a:cs typeface="Times New Roman"/>
              </a:rPr>
              <a:t> 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https://medium.com/@globalindnews/north-america-accounted-for-major-share-in-the-global-smart-home-healthcare-market-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in-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2015-cc9cc1974ac5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377988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567" y="981455"/>
            <a:ext cx="7272528" cy="52181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27221" y="6271361"/>
            <a:ext cx="18237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latin typeface="Times New Roman"/>
                <a:cs typeface="Times New Roman"/>
              </a:rPr>
              <a:t>Source</a:t>
            </a:r>
            <a:r>
              <a:rPr sz="1000" spc="-35" dirty="0">
                <a:latin typeface="Times New Roman"/>
                <a:cs typeface="Times New Roman"/>
              </a:rPr>
              <a:t>: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http://iot.fit-foxconn.com/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30907" y="373444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</a:t>
            </a:r>
            <a:r>
              <a:rPr b="1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pic>
        <p:nvPicPr>
          <p:cNvPr id="3" name="object 3" descr="Industrial IoT | Solutions | WINMAT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80" y="1054143"/>
            <a:ext cx="8942154" cy="50881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50895" y="6302984"/>
            <a:ext cx="3322954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b="1" spc="-35" dirty="0">
                <a:latin typeface="Times New Roman"/>
                <a:cs typeface="Times New Roman"/>
              </a:rPr>
              <a:t>Source</a:t>
            </a:r>
            <a:r>
              <a:rPr sz="1000" spc="-35" dirty="0">
                <a:latin typeface="Times New Roman"/>
                <a:cs typeface="Times New Roman"/>
              </a:rPr>
              <a:t>: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https://www.winmate.com/Solutions/Solutions_IoT.asp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290524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</a:t>
            </a:r>
            <a:r>
              <a:rPr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pic>
        <p:nvPicPr>
          <p:cNvPr id="3" name="object 3" descr="Future Internet | Free Full-Text | Vehicular Internet: Security &amp;amp;  Privacy Challenges and Opportunities | HTM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196" y="1085088"/>
            <a:ext cx="6105144" cy="54345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32552" y="5898286"/>
            <a:ext cx="3373754" cy="38163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>
              <a:lnSpc>
                <a:spcPts val="1250"/>
              </a:lnSpc>
              <a:spcBef>
                <a:spcPts val="395"/>
              </a:spcBef>
            </a:pPr>
            <a:r>
              <a:rPr sz="1300" b="1" spc="-45" dirty="0">
                <a:latin typeface="Times New Roman"/>
                <a:cs typeface="Times New Roman"/>
              </a:rPr>
              <a:t>Source</a:t>
            </a:r>
            <a:r>
              <a:rPr sz="1300" spc="-45" dirty="0">
                <a:latin typeface="Times New Roman"/>
                <a:cs typeface="Times New Roman"/>
              </a:rPr>
              <a:t>: </a:t>
            </a:r>
            <a:r>
              <a:rPr sz="1300" spc="-10" dirty="0">
                <a:latin typeface="Calibri"/>
                <a:cs typeface="Calibri"/>
              </a:rPr>
              <a:t>Vehicular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K. Ziadi,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M. Rajarajan,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“Internet: </a:t>
            </a:r>
            <a:r>
              <a:rPr sz="1300" dirty="0">
                <a:latin typeface="Calibri"/>
                <a:cs typeface="Calibri"/>
              </a:rPr>
              <a:t>Security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&amp;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Privacy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Challenges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Opportunities”,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2552" y="6256426"/>
            <a:ext cx="242887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sz="1300" i="1" dirty="0">
                <a:latin typeface="Calibri"/>
                <a:cs typeface="Calibri"/>
              </a:rPr>
              <a:t>Future</a:t>
            </a:r>
            <a:r>
              <a:rPr sz="1300" i="1" spc="-4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Internet</a:t>
            </a:r>
            <a:r>
              <a:rPr sz="1300" i="1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2015,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7(3),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257-</a:t>
            </a:r>
            <a:r>
              <a:rPr sz="1300" spc="-20" dirty="0">
                <a:latin typeface="Calibri"/>
                <a:cs typeface="Calibri"/>
              </a:rPr>
              <a:t>275.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Google’s</a:t>
            </a:r>
            <a:r>
              <a:rPr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Driving</a:t>
            </a:r>
            <a:r>
              <a:rPr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pic>
        <p:nvPicPr>
          <p:cNvPr id="3" name="object 3" descr="Watch Meet the Blind Man Who Convinced Google Its Self-Driving Car Is  Finally Ready | WIRED Video | CN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591055"/>
            <a:ext cx="7620000" cy="428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55085" y="6302375"/>
            <a:ext cx="17856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b="1" spc="-35" dirty="0">
                <a:latin typeface="Times New Roman"/>
                <a:cs typeface="Times New Roman"/>
              </a:rPr>
              <a:t>Source</a:t>
            </a:r>
            <a:r>
              <a:rPr sz="1000" spc="-35" dirty="0">
                <a:latin typeface="Times New Roman"/>
                <a:cs typeface="Times New Roman"/>
              </a:rPr>
              <a:t>: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https://www.google.com/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95441" y="338298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b="1" spc="-4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</a:t>
            </a:r>
            <a:endParaRPr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pic>
        <p:nvPicPr>
          <p:cNvPr id="3" name="object 3" descr="Image result for smart agriculture using iot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4" y="1232916"/>
            <a:ext cx="8708136" cy="44653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28469" y="6238747"/>
            <a:ext cx="35934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latin typeface="Times New Roman"/>
                <a:cs typeface="Times New Roman"/>
              </a:rPr>
              <a:t>Source</a:t>
            </a:r>
            <a:r>
              <a:rPr sz="1000" spc="-35" dirty="0">
                <a:latin typeface="Times New Roman"/>
                <a:cs typeface="Times New Roman"/>
              </a:rPr>
              <a:t>: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https://in.pinterest.com/pin/515380751093603767/?lp=true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26957" y="6629196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9822" y="363923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Livestock</a:t>
            </a:r>
            <a:r>
              <a:rPr b="1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pic>
        <p:nvPicPr>
          <p:cNvPr id="3" name="object 3" descr="Image result for smart livestock management using Iot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567" y="1053083"/>
            <a:ext cx="6841235" cy="50977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34742" y="6236919"/>
            <a:ext cx="36861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latin typeface="Times New Roman"/>
                <a:cs typeface="Times New Roman"/>
              </a:rPr>
              <a:t>Source</a:t>
            </a:r>
            <a:r>
              <a:rPr sz="1000" spc="-35" dirty="0">
                <a:latin typeface="Times New Roman"/>
                <a:cs typeface="Times New Roman"/>
              </a:rPr>
              <a:t>:</a:t>
            </a:r>
            <a:r>
              <a:rPr sz="1000" spc="325" dirty="0">
                <a:latin typeface="Times New Roman"/>
                <a:cs typeface="Times New Roman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https://data-flair.training/blogs/iot-applications-in-agriculture/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2647" y="259938"/>
            <a:ext cx="7886700" cy="637096"/>
          </a:xfrm>
          <a:prstGeom prst="rect">
            <a:avLst/>
          </a:prstGeom>
        </p:spPr>
        <p:txBody>
          <a:bodyPr vert="horz" wrap="square" lIns="0" tIns="8229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sz="36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sz="36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6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sz="36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/>
          <p:nvPr/>
        </p:nvSpPr>
        <p:spPr>
          <a:xfrm>
            <a:off x="2387345" y="1439417"/>
            <a:ext cx="2171700" cy="922019"/>
          </a:xfrm>
          <a:custGeom>
            <a:avLst/>
            <a:gdLst/>
            <a:ahLst/>
            <a:cxnLst/>
            <a:rect l="l" t="t" r="r" b="b"/>
            <a:pathLst>
              <a:path w="2171700" h="922019">
                <a:moveTo>
                  <a:pt x="0" y="922019"/>
                </a:moveTo>
                <a:lnTo>
                  <a:pt x="2171700" y="922019"/>
                </a:lnTo>
                <a:lnTo>
                  <a:pt x="2171700" y="0"/>
                </a:lnTo>
                <a:lnTo>
                  <a:pt x="0" y="0"/>
                </a:lnTo>
                <a:lnTo>
                  <a:pt x="0" y="922019"/>
                </a:lnTo>
                <a:close/>
              </a:path>
            </a:pathLst>
          </a:custGeom>
          <a:ln w="25907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00300" y="1454658"/>
            <a:ext cx="21463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10096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3855" algn="l"/>
              </a:tabLst>
            </a:pPr>
            <a:r>
              <a:rPr sz="1800" spc="-25" dirty="0">
                <a:latin typeface="Times New Roman"/>
                <a:cs typeface="Times New Roman"/>
              </a:rPr>
              <a:t>millions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devices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connected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form </a:t>
            </a:r>
            <a:r>
              <a:rPr sz="1800" spc="40" dirty="0">
                <a:latin typeface="Times New Roman"/>
                <a:cs typeface="Times New Roman"/>
              </a:rPr>
              <a:t>IoT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74620" y="1083551"/>
            <a:ext cx="995680" cy="561340"/>
            <a:chOff x="2674620" y="1083551"/>
            <a:chExt cx="995680" cy="5613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5768" y="1103350"/>
              <a:ext cx="954036" cy="4587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4620" y="1083551"/>
              <a:ext cx="842784" cy="5608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3012" y="1127760"/>
              <a:ext cx="864108" cy="36880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763012" y="1127760"/>
              <a:ext cx="864235" cy="368935"/>
            </a:xfrm>
            <a:custGeom>
              <a:avLst/>
              <a:gdLst/>
              <a:ahLst/>
              <a:cxnLst/>
              <a:rect l="l" t="t" r="r" b="b"/>
              <a:pathLst>
                <a:path w="864235" h="368934">
                  <a:moveTo>
                    <a:pt x="0" y="368808"/>
                  </a:moveTo>
                  <a:lnTo>
                    <a:pt x="864108" y="368808"/>
                  </a:lnTo>
                  <a:lnTo>
                    <a:pt x="864108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4555997" y="5314950"/>
            <a:ext cx="2464435" cy="923925"/>
          </a:xfrm>
          <a:custGeom>
            <a:avLst/>
            <a:gdLst/>
            <a:ahLst/>
            <a:cxnLst/>
            <a:rect l="l" t="t" r="r" b="b"/>
            <a:pathLst>
              <a:path w="2464434" h="923925">
                <a:moveTo>
                  <a:pt x="0" y="923544"/>
                </a:moveTo>
                <a:lnTo>
                  <a:pt x="2464307" y="923544"/>
                </a:lnTo>
                <a:lnTo>
                  <a:pt x="2464307" y="0"/>
                </a:lnTo>
                <a:lnTo>
                  <a:pt x="0" y="0"/>
                </a:lnTo>
                <a:lnTo>
                  <a:pt x="0" y="923544"/>
                </a:lnTo>
                <a:close/>
              </a:path>
            </a:pathLst>
          </a:custGeom>
          <a:ln w="25908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68952" y="5331714"/>
            <a:ext cx="24384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8255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3855" algn="l"/>
              </a:tabLst>
            </a:pPr>
            <a:r>
              <a:rPr sz="1800" spc="-55" dirty="0">
                <a:latin typeface="Times New Roman"/>
                <a:cs typeface="Times New Roman"/>
              </a:rPr>
              <a:t>“things”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becomes </a:t>
            </a:r>
            <a:r>
              <a:rPr sz="1800" dirty="0">
                <a:latin typeface="Times New Roman"/>
                <a:cs typeface="Times New Roman"/>
              </a:rPr>
              <a:t>connected,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security </a:t>
            </a:r>
            <a:r>
              <a:rPr sz="1800" dirty="0">
                <a:latin typeface="Times New Roman"/>
                <a:cs typeface="Times New Roman"/>
              </a:rPr>
              <a:t>becomes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complex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71644" y="4959083"/>
            <a:ext cx="1172210" cy="561340"/>
            <a:chOff x="4771644" y="4959083"/>
            <a:chExt cx="1172210" cy="56134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12792" y="4978895"/>
              <a:ext cx="1130808" cy="4602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71644" y="4959083"/>
              <a:ext cx="1123175" cy="5608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60036" y="5003292"/>
              <a:ext cx="1040891" cy="37033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860036" y="5003292"/>
              <a:ext cx="1041400" cy="370840"/>
            </a:xfrm>
            <a:custGeom>
              <a:avLst/>
              <a:gdLst/>
              <a:ahLst/>
              <a:cxnLst/>
              <a:rect l="l" t="t" r="r" b="b"/>
              <a:pathLst>
                <a:path w="1041400" h="370839">
                  <a:moveTo>
                    <a:pt x="0" y="370331"/>
                  </a:moveTo>
                  <a:lnTo>
                    <a:pt x="1040891" y="370331"/>
                  </a:lnTo>
                  <a:lnTo>
                    <a:pt x="1040891" y="0"/>
                  </a:lnTo>
                  <a:lnTo>
                    <a:pt x="0" y="0"/>
                  </a:lnTo>
                  <a:lnTo>
                    <a:pt x="0" y="37033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864608" y="5022850"/>
            <a:ext cx="1031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Security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25217" y="5314950"/>
            <a:ext cx="2286000" cy="923925"/>
          </a:xfrm>
          <a:custGeom>
            <a:avLst/>
            <a:gdLst/>
            <a:ahLst/>
            <a:cxnLst/>
            <a:rect l="l" t="t" r="r" b="b"/>
            <a:pathLst>
              <a:path w="2286000" h="923925">
                <a:moveTo>
                  <a:pt x="0" y="923544"/>
                </a:moveTo>
                <a:lnTo>
                  <a:pt x="2286000" y="923544"/>
                </a:lnTo>
                <a:lnTo>
                  <a:pt x="2286000" y="0"/>
                </a:lnTo>
                <a:lnTo>
                  <a:pt x="0" y="0"/>
                </a:lnTo>
                <a:lnTo>
                  <a:pt x="0" y="923544"/>
                </a:lnTo>
                <a:close/>
              </a:path>
            </a:pathLst>
          </a:custGeom>
          <a:ln w="25908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138172" y="5331714"/>
            <a:ext cx="22606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9842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3855" algn="l"/>
              </a:tabLst>
            </a:pPr>
            <a:r>
              <a:rPr sz="1800" spc="-50" dirty="0">
                <a:latin typeface="Times New Roman"/>
                <a:cs typeface="Times New Roman"/>
              </a:rPr>
              <a:t>which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personal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share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with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whom</a:t>
            </a:r>
            <a:endParaRPr sz="1800">
              <a:latin typeface="Times New Roman"/>
              <a:cs typeface="Times New Roman"/>
            </a:endParaRPr>
          </a:p>
          <a:p>
            <a:pPr marL="363855" indent="-287020">
              <a:lnSpc>
                <a:spcPct val="100000"/>
              </a:lnSpc>
              <a:buFont typeface="Arial MT"/>
              <a:buChar char="•"/>
              <a:tabLst>
                <a:tab pos="363855" algn="l"/>
              </a:tabLst>
            </a:pPr>
            <a:r>
              <a:rPr sz="1800" spc="-20" dirty="0">
                <a:latin typeface="Times New Roman"/>
                <a:cs typeface="Times New Roman"/>
              </a:rPr>
              <a:t>how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control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467355" y="4959083"/>
            <a:ext cx="1195070" cy="561340"/>
            <a:chOff x="2467355" y="4959083"/>
            <a:chExt cx="1195070" cy="561340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08503" y="4978895"/>
              <a:ext cx="1153680" cy="4602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67355" y="4959083"/>
              <a:ext cx="1086599" cy="5608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55747" y="5003292"/>
              <a:ext cx="1063752" cy="37033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555747" y="5003292"/>
              <a:ext cx="1064260" cy="370840"/>
            </a:xfrm>
            <a:custGeom>
              <a:avLst/>
              <a:gdLst/>
              <a:ahLst/>
              <a:cxnLst/>
              <a:rect l="l" t="t" r="r" b="b"/>
              <a:pathLst>
                <a:path w="1064260" h="370839">
                  <a:moveTo>
                    <a:pt x="0" y="370331"/>
                  </a:moveTo>
                  <a:lnTo>
                    <a:pt x="1063752" y="370331"/>
                  </a:lnTo>
                  <a:lnTo>
                    <a:pt x="1063752" y="0"/>
                  </a:lnTo>
                  <a:lnTo>
                    <a:pt x="0" y="0"/>
                  </a:lnTo>
                  <a:lnTo>
                    <a:pt x="0" y="37033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560320" y="5022850"/>
            <a:ext cx="1054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Privacy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936997" y="1358646"/>
            <a:ext cx="3938270" cy="1477010"/>
          </a:xfrm>
          <a:custGeom>
            <a:avLst/>
            <a:gdLst/>
            <a:ahLst/>
            <a:cxnLst/>
            <a:rect l="l" t="t" r="r" b="b"/>
            <a:pathLst>
              <a:path w="3938270" h="1477010">
                <a:moveTo>
                  <a:pt x="0" y="1476755"/>
                </a:moveTo>
                <a:lnTo>
                  <a:pt x="3938015" y="1476755"/>
                </a:lnTo>
                <a:lnTo>
                  <a:pt x="3938015" y="0"/>
                </a:lnTo>
                <a:lnTo>
                  <a:pt x="0" y="0"/>
                </a:lnTo>
                <a:lnTo>
                  <a:pt x="0" y="1476755"/>
                </a:lnTo>
                <a:close/>
              </a:path>
            </a:pathLst>
          </a:custGeom>
          <a:ln w="25908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949952" y="1374394"/>
            <a:ext cx="391223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3855" algn="l"/>
              </a:tabLst>
            </a:pPr>
            <a:r>
              <a:rPr sz="1800" spc="-35" dirty="0">
                <a:latin typeface="Times New Roman"/>
                <a:cs typeface="Times New Roman"/>
              </a:rPr>
              <a:t>devices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should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remain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connected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endParaRPr sz="1800">
              <a:latin typeface="Times New Roman"/>
              <a:cs typeface="Times New Roman"/>
            </a:endParaRPr>
          </a:p>
          <a:p>
            <a:pPr marL="36385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network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years</a:t>
            </a:r>
            <a:endParaRPr sz="1800">
              <a:latin typeface="Times New Roman"/>
              <a:cs typeface="Times New Roman"/>
            </a:endParaRPr>
          </a:p>
          <a:p>
            <a:pPr marL="363855" indent="-286385">
              <a:lnSpc>
                <a:spcPct val="100000"/>
              </a:lnSpc>
              <a:buFont typeface="Arial MT"/>
              <a:buChar char="•"/>
              <a:tabLst>
                <a:tab pos="363855" algn="l"/>
              </a:tabLst>
            </a:pPr>
            <a:r>
              <a:rPr sz="1800" spc="-20" dirty="0">
                <a:latin typeface="Times New Roman"/>
                <a:cs typeface="Times New Roman"/>
              </a:rPr>
              <a:t>high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network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latency</a:t>
            </a:r>
            <a:endParaRPr sz="1800">
              <a:latin typeface="Times New Roman"/>
              <a:cs typeface="Times New Roman"/>
            </a:endParaRPr>
          </a:p>
          <a:p>
            <a:pPr marL="363855" marR="313690" indent="-287020">
              <a:lnSpc>
                <a:spcPct val="100000"/>
              </a:lnSpc>
              <a:buFont typeface="Arial MT"/>
              <a:buChar char="•"/>
              <a:tabLst>
                <a:tab pos="363855" algn="l"/>
              </a:tabLst>
            </a:pPr>
            <a:r>
              <a:rPr sz="1800" spc="-50" dirty="0">
                <a:latin typeface="Times New Roman"/>
                <a:cs typeface="Times New Roman"/>
              </a:rPr>
              <a:t>can’t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25" dirty="0">
                <a:latin typeface="Times New Roman"/>
                <a:cs typeface="Times New Roman"/>
              </a:rPr>
              <a:t> traditional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communication protocols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972811" y="970775"/>
            <a:ext cx="2529840" cy="561340"/>
            <a:chOff x="4972811" y="970775"/>
            <a:chExt cx="2529840" cy="561340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13959" y="990574"/>
              <a:ext cx="2488691" cy="45874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72811" y="970775"/>
              <a:ext cx="2279904" cy="56084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61203" y="1014984"/>
              <a:ext cx="2398776" cy="36880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061203" y="1014984"/>
              <a:ext cx="2399030" cy="368935"/>
            </a:xfrm>
            <a:custGeom>
              <a:avLst/>
              <a:gdLst/>
              <a:ahLst/>
              <a:cxnLst/>
              <a:rect l="l" t="t" r="r" b="b"/>
              <a:pathLst>
                <a:path w="2399029" h="368934">
                  <a:moveTo>
                    <a:pt x="0" y="368808"/>
                  </a:moveTo>
                  <a:lnTo>
                    <a:pt x="2398776" y="368808"/>
                  </a:lnTo>
                  <a:lnTo>
                    <a:pt x="2398776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065776" y="1032509"/>
            <a:ext cx="2390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Low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Power</a:t>
            </a:r>
            <a:r>
              <a:rPr sz="18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70509" y="3342894"/>
            <a:ext cx="4014470" cy="1199515"/>
          </a:xfrm>
          <a:custGeom>
            <a:avLst/>
            <a:gdLst/>
            <a:ahLst/>
            <a:cxnLst/>
            <a:rect l="l" t="t" r="r" b="b"/>
            <a:pathLst>
              <a:path w="4014470" h="1199514">
                <a:moveTo>
                  <a:pt x="0" y="1199387"/>
                </a:moveTo>
                <a:lnTo>
                  <a:pt x="4014216" y="1199387"/>
                </a:lnTo>
                <a:lnTo>
                  <a:pt x="4014216" y="0"/>
                </a:lnTo>
                <a:lnTo>
                  <a:pt x="0" y="0"/>
                </a:lnTo>
                <a:lnTo>
                  <a:pt x="0" y="1199387"/>
                </a:lnTo>
                <a:close/>
              </a:path>
            </a:pathLst>
          </a:custGeom>
          <a:ln w="25907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83463" y="3359022"/>
            <a:ext cx="398843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220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3220" algn="l"/>
              </a:tabLst>
            </a:pPr>
            <a:r>
              <a:rPr sz="1800" spc="-35" dirty="0">
                <a:latin typeface="Times New Roman"/>
                <a:cs typeface="Times New Roman"/>
              </a:rPr>
              <a:t>various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protocol,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various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architecture</a:t>
            </a:r>
            <a:endParaRPr sz="1800">
              <a:latin typeface="Times New Roman"/>
              <a:cs typeface="Times New Roman"/>
            </a:endParaRPr>
          </a:p>
          <a:p>
            <a:pPr marL="363220" indent="-286385">
              <a:lnSpc>
                <a:spcPct val="100000"/>
              </a:lnSpc>
              <a:buFont typeface="Arial MT"/>
              <a:buChar char="•"/>
              <a:tabLst>
                <a:tab pos="363220" algn="l"/>
              </a:tabLst>
            </a:pPr>
            <a:r>
              <a:rPr sz="1800" spc="-55" dirty="0">
                <a:latin typeface="Times New Roman"/>
                <a:cs typeface="Times New Roman"/>
              </a:rPr>
              <a:t>unavailability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standardized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platform</a:t>
            </a:r>
            <a:endParaRPr sz="1800">
              <a:latin typeface="Times New Roman"/>
              <a:cs typeface="Times New Roman"/>
            </a:endParaRPr>
          </a:p>
          <a:p>
            <a:pPr marL="363220" indent="-286385">
              <a:lnSpc>
                <a:spcPct val="100000"/>
              </a:lnSpc>
              <a:buFont typeface="Arial MT"/>
              <a:buChar char="•"/>
              <a:tabLst>
                <a:tab pos="363220" algn="l"/>
              </a:tabLst>
            </a:pPr>
            <a:r>
              <a:rPr sz="1800" spc="-20" dirty="0">
                <a:latin typeface="Times New Roman"/>
                <a:cs typeface="Times New Roman"/>
              </a:rPr>
              <a:t>different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technology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leads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endParaRPr sz="1800">
              <a:latin typeface="Times New Roman"/>
              <a:cs typeface="Times New Roman"/>
            </a:endParaRPr>
          </a:p>
          <a:p>
            <a:pPr marL="363220">
              <a:lnSpc>
                <a:spcPct val="100000"/>
              </a:lnSpc>
            </a:pPr>
            <a:r>
              <a:rPr sz="1800" spc="-25" dirty="0">
                <a:latin typeface="Times New Roman"/>
                <a:cs typeface="Times New Roman"/>
              </a:rPr>
              <a:t>interoperability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issue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78536" y="3000743"/>
            <a:ext cx="2301240" cy="561340"/>
            <a:chOff x="478536" y="3000743"/>
            <a:chExt cx="2301240" cy="561340"/>
          </a:xfrm>
        </p:grpSpPr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9684" y="3020555"/>
              <a:ext cx="2260091" cy="4602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8536" y="3000743"/>
              <a:ext cx="1880616" cy="56084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6928" y="3044952"/>
              <a:ext cx="2170176" cy="37033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66928" y="3044952"/>
              <a:ext cx="2170430" cy="370840"/>
            </a:xfrm>
            <a:custGeom>
              <a:avLst/>
              <a:gdLst/>
              <a:ahLst/>
              <a:cxnLst/>
              <a:rect l="l" t="t" r="r" b="b"/>
              <a:pathLst>
                <a:path w="2170430" h="370839">
                  <a:moveTo>
                    <a:pt x="0" y="370332"/>
                  </a:moveTo>
                  <a:lnTo>
                    <a:pt x="2170176" y="370332"/>
                  </a:lnTo>
                  <a:lnTo>
                    <a:pt x="2170176" y="0"/>
                  </a:lnTo>
                  <a:lnTo>
                    <a:pt x="0" y="0"/>
                  </a:lnTo>
                  <a:lnTo>
                    <a:pt x="0" y="37033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71500" y="3064002"/>
            <a:ext cx="2161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Interoperability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08965" y="1439417"/>
            <a:ext cx="2170430" cy="923925"/>
          </a:xfrm>
          <a:custGeom>
            <a:avLst/>
            <a:gdLst/>
            <a:ahLst/>
            <a:cxnLst/>
            <a:rect l="l" t="t" r="r" b="b"/>
            <a:pathLst>
              <a:path w="2170430" h="923925">
                <a:moveTo>
                  <a:pt x="0" y="923543"/>
                </a:moveTo>
                <a:lnTo>
                  <a:pt x="2170176" y="923543"/>
                </a:lnTo>
                <a:lnTo>
                  <a:pt x="2170176" y="0"/>
                </a:lnTo>
                <a:lnTo>
                  <a:pt x="0" y="0"/>
                </a:lnTo>
                <a:lnTo>
                  <a:pt x="0" y="923543"/>
                </a:lnTo>
                <a:close/>
              </a:path>
            </a:pathLst>
          </a:custGeom>
          <a:ln w="25908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21920" y="1455801"/>
            <a:ext cx="21443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220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3220" algn="l"/>
              </a:tabLst>
            </a:pPr>
            <a:r>
              <a:rPr sz="1800" spc="-20" dirty="0">
                <a:latin typeface="Times New Roman"/>
                <a:cs typeface="Times New Roman"/>
              </a:rPr>
              <a:t>limited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resources</a:t>
            </a:r>
            <a:endParaRPr sz="1800">
              <a:latin typeface="Times New Roman"/>
              <a:cs typeface="Times New Roman"/>
            </a:endParaRPr>
          </a:p>
          <a:p>
            <a:pPr marL="363220" marR="387985" indent="-287020">
              <a:lnSpc>
                <a:spcPct val="100000"/>
              </a:lnSpc>
              <a:buFont typeface="Arial MT"/>
              <a:buChar char="•"/>
              <a:tabLst>
                <a:tab pos="363220" algn="l"/>
              </a:tabLst>
            </a:pPr>
            <a:r>
              <a:rPr sz="1800" spc="-20" dirty="0">
                <a:latin typeface="Times New Roman"/>
                <a:cs typeface="Times New Roman"/>
              </a:rPr>
              <a:t>limited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types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of </a:t>
            </a:r>
            <a:r>
              <a:rPr sz="1800" spc="-10" dirty="0">
                <a:latin typeface="Times New Roman"/>
                <a:cs typeface="Times New Roman"/>
              </a:rPr>
              <a:t>sensors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81355" y="1074407"/>
            <a:ext cx="1137285" cy="561340"/>
            <a:chOff x="181355" y="1074407"/>
            <a:chExt cx="1137285" cy="561340"/>
          </a:xfrm>
        </p:grpSpPr>
        <p:pic>
          <p:nvPicPr>
            <p:cNvPr id="45" name="object 4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2503" y="1094206"/>
              <a:ext cx="1080528" cy="45874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1355" y="1074407"/>
              <a:ext cx="1136904" cy="56084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69747" y="1118615"/>
              <a:ext cx="990600" cy="36880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69747" y="1118615"/>
              <a:ext cx="990600" cy="368935"/>
            </a:xfrm>
            <a:custGeom>
              <a:avLst/>
              <a:gdLst/>
              <a:ahLst/>
              <a:cxnLst/>
              <a:rect l="l" t="t" r="r" b="b"/>
              <a:pathLst>
                <a:path w="990600" h="368934">
                  <a:moveTo>
                    <a:pt x="0" y="368808"/>
                  </a:moveTo>
                  <a:lnTo>
                    <a:pt x="990600" y="368808"/>
                  </a:lnTo>
                  <a:lnTo>
                    <a:pt x="990600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74320" y="1145489"/>
            <a:ext cx="334835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  <a:tabLst>
                <a:tab pos="2581275" algn="l"/>
              </a:tabLst>
            </a:pPr>
            <a:r>
              <a:rPr sz="2700" b="1" spc="-15" baseline="3086" dirty="0">
                <a:solidFill>
                  <a:srgbClr val="FFFFFF"/>
                </a:solidFill>
                <a:latin typeface="Calibri"/>
                <a:cs typeface="Calibri"/>
              </a:rPr>
              <a:t>Sensors</a:t>
            </a:r>
            <a:r>
              <a:rPr sz="2700" b="1" baseline="3086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580382" y="3658361"/>
            <a:ext cx="4241800" cy="923925"/>
          </a:xfrm>
          <a:custGeom>
            <a:avLst/>
            <a:gdLst/>
            <a:ahLst/>
            <a:cxnLst/>
            <a:rect l="l" t="t" r="r" b="b"/>
            <a:pathLst>
              <a:path w="4241800" h="923925">
                <a:moveTo>
                  <a:pt x="0" y="923544"/>
                </a:moveTo>
                <a:lnTo>
                  <a:pt x="4241292" y="923544"/>
                </a:lnTo>
                <a:lnTo>
                  <a:pt x="4241292" y="0"/>
                </a:lnTo>
                <a:lnTo>
                  <a:pt x="0" y="0"/>
                </a:lnTo>
                <a:lnTo>
                  <a:pt x="0" y="923544"/>
                </a:lnTo>
                <a:close/>
              </a:path>
            </a:pathLst>
          </a:custGeom>
          <a:ln w="25908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593335" y="3675126"/>
            <a:ext cx="421576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4490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4490" algn="l"/>
              </a:tabLst>
            </a:pPr>
            <a:r>
              <a:rPr sz="1800" spc="-40" dirty="0">
                <a:latin typeface="Times New Roman"/>
                <a:cs typeface="Times New Roman"/>
              </a:rPr>
              <a:t>massive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amount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sensor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  <a:p>
            <a:pPr marL="364490" indent="-286385">
              <a:lnSpc>
                <a:spcPct val="100000"/>
              </a:lnSpc>
              <a:buFont typeface="Arial MT"/>
              <a:buChar char="•"/>
              <a:tabLst>
                <a:tab pos="364490" algn="l"/>
              </a:tabLst>
            </a:pPr>
            <a:r>
              <a:rPr sz="1800" spc="-20" dirty="0">
                <a:latin typeface="Times New Roman"/>
                <a:cs typeface="Times New Roman"/>
              </a:rPr>
              <a:t>different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sources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various </a:t>
            </a:r>
            <a:r>
              <a:rPr sz="1800" spc="-20" dirty="0">
                <a:latin typeface="Times New Roman"/>
                <a:cs typeface="Times New Roman"/>
              </a:rPr>
              <a:t>forms</a:t>
            </a:r>
            <a:endParaRPr sz="1800">
              <a:latin typeface="Times New Roman"/>
              <a:cs typeface="Times New Roman"/>
            </a:endParaRPr>
          </a:p>
          <a:p>
            <a:pPr marL="364490" indent="-286385">
              <a:lnSpc>
                <a:spcPct val="100000"/>
              </a:lnSpc>
              <a:buFont typeface="Arial MT"/>
              <a:buChar char="•"/>
              <a:tabLst>
                <a:tab pos="364490" algn="l"/>
              </a:tabLst>
            </a:pPr>
            <a:r>
              <a:rPr sz="1800" spc="-30" dirty="0">
                <a:latin typeface="Times New Roman"/>
                <a:cs typeface="Times New Roman"/>
              </a:rPr>
              <a:t>extract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intelligence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form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heaps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797552" y="3282683"/>
            <a:ext cx="2874645" cy="561340"/>
            <a:chOff x="4797552" y="3282683"/>
            <a:chExt cx="2874645" cy="561340"/>
          </a:xfrm>
        </p:grpSpPr>
        <p:pic>
          <p:nvPicPr>
            <p:cNvPr id="53" name="object 5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838700" y="3302482"/>
              <a:ext cx="2833116" cy="45874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797552" y="3282683"/>
              <a:ext cx="2718816" cy="56084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885944" y="3326892"/>
              <a:ext cx="2743200" cy="368808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885944" y="3326892"/>
              <a:ext cx="2743200" cy="368935"/>
            </a:xfrm>
            <a:custGeom>
              <a:avLst/>
              <a:gdLst/>
              <a:ahLst/>
              <a:cxnLst/>
              <a:rect l="l" t="t" r="r" b="b"/>
              <a:pathLst>
                <a:path w="2743200" h="368935">
                  <a:moveTo>
                    <a:pt x="0" y="368808"/>
                  </a:moveTo>
                  <a:lnTo>
                    <a:pt x="2743200" y="368808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890515" y="3344926"/>
            <a:ext cx="2734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Bigdata</a:t>
            </a:r>
            <a:r>
              <a:rPr sz="18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579717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</a:t>
            </a:r>
            <a:r>
              <a:rPr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22680" y="1440561"/>
            <a:ext cx="6396355" cy="3714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Learned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about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5" dirty="0">
                <a:latin typeface="Calibri"/>
                <a:cs typeface="Calibri"/>
              </a:rPr>
              <a:t> IoT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40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Learned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genesis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IoT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40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spc="-10" dirty="0">
                <a:latin typeface="Calibri"/>
                <a:cs typeface="Calibri"/>
              </a:rPr>
              <a:t>Understand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benefits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IoT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40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Learned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about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market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share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IoT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45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spc="-10" dirty="0">
                <a:latin typeface="Calibri"/>
                <a:cs typeface="Calibri"/>
              </a:rPr>
              <a:t>Understand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world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applications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IoT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40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spc="-10" dirty="0">
                <a:latin typeface="Calibri"/>
                <a:cs typeface="Calibri"/>
              </a:rPr>
              <a:t>Understand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various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challenges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IoT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implementation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755" y="4167885"/>
            <a:ext cx="792924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Figures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slide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materials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taken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following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Books:</a:t>
            </a:r>
            <a:endParaRPr sz="1800">
              <a:latin typeface="Calibri"/>
              <a:cs typeface="Calibri"/>
            </a:endParaRPr>
          </a:p>
          <a:p>
            <a:pPr marL="405765" marR="350520" indent="-342900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405765" algn="l"/>
                <a:tab pos="457834" algn="l"/>
              </a:tabLst>
            </a:pPr>
            <a:r>
              <a:rPr sz="1800" dirty="0">
                <a:latin typeface="Calibri"/>
                <a:cs typeface="Calibri"/>
              </a:rPr>
              <a:t>	David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et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al.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</a:t>
            </a:r>
            <a:r>
              <a:rPr sz="1800" b="1" dirty="0">
                <a:latin typeface="Calibri"/>
                <a:cs typeface="Calibri"/>
              </a:rPr>
              <a:t>IoT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Fundamentals: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Networking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Technologies,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Protocols,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Use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Cases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for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Internet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Things</a:t>
            </a:r>
            <a:r>
              <a:rPr sz="1800" spc="-20" dirty="0">
                <a:latin typeface="Calibri"/>
                <a:cs typeface="Calibri"/>
              </a:rPr>
              <a:t>”,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baseline="25462" dirty="0">
                <a:latin typeface="Calibri"/>
                <a:cs typeface="Calibri"/>
              </a:rPr>
              <a:t>st</a:t>
            </a:r>
            <a:r>
              <a:rPr sz="1800" spc="172" baseline="25462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Edition,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2018,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Pearson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India.</a:t>
            </a:r>
            <a:endParaRPr sz="180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405765" algn="l"/>
              </a:tabLst>
            </a:pPr>
            <a:r>
              <a:rPr sz="1800" dirty="0">
                <a:latin typeface="Calibri"/>
                <a:cs typeface="Calibri"/>
              </a:rPr>
              <a:t>Mayur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Ramgir,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</a:t>
            </a:r>
            <a:r>
              <a:rPr sz="1800" b="1" dirty="0">
                <a:latin typeface="Calibri"/>
                <a:cs typeface="Calibri"/>
              </a:rPr>
              <a:t>Internet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Things: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Architecture,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Implementation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Security</a:t>
            </a:r>
            <a:r>
              <a:rPr sz="1800" spc="-10" dirty="0">
                <a:latin typeface="Calibri"/>
                <a:cs typeface="Calibri"/>
              </a:rPr>
              <a:t>”,</a:t>
            </a:r>
            <a:endParaRPr sz="1800">
              <a:latin typeface="Calibri"/>
              <a:cs typeface="Calibri"/>
            </a:endParaRPr>
          </a:p>
          <a:p>
            <a:pPr marL="40576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1</a:t>
            </a:r>
            <a:r>
              <a:rPr sz="1800" baseline="25462" dirty="0">
                <a:latin typeface="Calibri"/>
                <a:cs typeface="Calibri"/>
              </a:rPr>
              <a:t>st</a:t>
            </a:r>
            <a:r>
              <a:rPr sz="1800" spc="157" baseline="25462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Edition,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2020,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Pearson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India.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9763" y="2514710"/>
            <a:ext cx="1397408" cy="14107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pic>
        <p:nvPicPr>
          <p:cNvPr id="7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7455" y="1632216"/>
            <a:ext cx="1985899" cy="475602"/>
          </a:xfrm>
          <a:prstGeom prst="rect">
            <a:avLst/>
          </a:prstGeom>
        </p:spPr>
      </p:pic>
      <p:pic>
        <p:nvPicPr>
          <p:cNvPr id="8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50764" y="1635251"/>
            <a:ext cx="95885" cy="4698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355472"/>
            <a:ext cx="7886700" cy="610039"/>
          </a:xfrm>
          <a:prstGeom prst="rect">
            <a:avLst/>
          </a:prstGeom>
        </p:spPr>
        <p:txBody>
          <a:bodyPr vert="horz" wrap="square" lIns="0" tIns="116459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</a:t>
            </a:r>
            <a:r>
              <a:rPr sz="32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sz="32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914905" y="5691022"/>
            <a:ext cx="364045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14" dirty="0">
                <a:latin typeface="Times New Roman"/>
                <a:cs typeface="Times New Roman"/>
              </a:rPr>
              <a:t>Transforma</a:t>
            </a:r>
            <a:r>
              <a:rPr sz="2200" b="1" spc="40" dirty="0">
                <a:latin typeface="Times New Roman"/>
                <a:cs typeface="Times New Roman"/>
              </a:rPr>
              <a:t> </a:t>
            </a:r>
            <a:r>
              <a:rPr sz="2200" b="1" spc="-114" dirty="0">
                <a:latin typeface="Times New Roman"/>
                <a:cs typeface="Times New Roman"/>
              </a:rPr>
              <a:t>Insights’s</a:t>
            </a:r>
            <a:r>
              <a:rPr sz="2200" b="1" spc="40" dirty="0">
                <a:latin typeface="Times New Roman"/>
                <a:cs typeface="Times New Roman"/>
              </a:rPr>
              <a:t> </a:t>
            </a:r>
            <a:r>
              <a:rPr sz="2200" b="1" spc="-65" dirty="0">
                <a:latin typeface="Times New Roman"/>
                <a:cs typeface="Times New Roman"/>
              </a:rPr>
              <a:t>Prediction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0473" y="6264351"/>
            <a:ext cx="47567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Image</a:t>
            </a:r>
            <a:r>
              <a:rPr sz="900" spc="2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Source:</a:t>
            </a:r>
            <a:r>
              <a:rPr sz="900" spc="225" dirty="0">
                <a:latin typeface="Calibri"/>
                <a:cs typeface="Calibri"/>
              </a:rPr>
              <a:t> </a:t>
            </a:r>
            <a:r>
              <a:rPr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https://transformainsights.com/research/reports/global-iot-forecast-report-2024-</a:t>
            </a:r>
            <a:r>
              <a:rPr sz="9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2034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940" y="1178160"/>
            <a:ext cx="7834855" cy="43934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378717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b="1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b="1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23-07-</a:t>
            </a:r>
            <a:r>
              <a:rPr spc="-20" dirty="0"/>
              <a:t>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28" y="981468"/>
            <a:ext cx="7967028" cy="54832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43854" y="6001246"/>
            <a:ext cx="3260090" cy="3924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ct val="77000"/>
              </a:lnSpc>
              <a:spcBef>
                <a:spcPts val="484"/>
              </a:spcBef>
            </a:pPr>
            <a:r>
              <a:rPr sz="1300" b="1" spc="-45" dirty="0">
                <a:latin typeface="Times New Roman"/>
                <a:cs typeface="Times New Roman"/>
              </a:rPr>
              <a:t>Source</a:t>
            </a:r>
            <a:r>
              <a:rPr sz="1300" spc="-45" dirty="0">
                <a:latin typeface="Times New Roman"/>
                <a:cs typeface="Times New Roman"/>
              </a:rPr>
              <a:t>: </a:t>
            </a:r>
            <a:r>
              <a:rPr sz="1300" spc="-65" dirty="0">
                <a:latin typeface="Times New Roman"/>
                <a:cs typeface="Times New Roman"/>
              </a:rPr>
              <a:t>Rajiv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Ranjan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50" i="1" spc="-10" dirty="0">
                <a:latin typeface="Times New Roman"/>
                <a:cs typeface="Times New Roman"/>
              </a:rPr>
              <a:t>et. </a:t>
            </a:r>
            <a:r>
              <a:rPr sz="1350" i="1" spc="-65" dirty="0">
                <a:latin typeface="Times New Roman"/>
                <a:cs typeface="Times New Roman"/>
              </a:rPr>
              <a:t>al.,</a:t>
            </a:r>
            <a:r>
              <a:rPr sz="1350" i="1" spc="-1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“Integrating</a:t>
            </a:r>
            <a:r>
              <a:rPr sz="1300" dirty="0">
                <a:latin typeface="Times New Roman"/>
                <a:cs typeface="Times New Roman"/>
              </a:rPr>
              <a:t> the</a:t>
            </a:r>
            <a:r>
              <a:rPr sz="1300" spc="-25" dirty="0">
                <a:latin typeface="Times New Roman"/>
                <a:cs typeface="Times New Roman"/>
              </a:rPr>
              <a:t> IoT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Data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Science”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50" i="1" dirty="0">
                <a:latin typeface="Times New Roman"/>
                <a:cs typeface="Times New Roman"/>
              </a:rPr>
              <a:t>IEEE</a:t>
            </a:r>
            <a:r>
              <a:rPr sz="1350" i="1" spc="-15" dirty="0">
                <a:latin typeface="Times New Roman"/>
                <a:cs typeface="Times New Roman"/>
              </a:rPr>
              <a:t> </a:t>
            </a:r>
            <a:r>
              <a:rPr sz="1350" i="1" spc="-20" dirty="0">
                <a:latin typeface="Times New Roman"/>
                <a:cs typeface="Times New Roman"/>
              </a:rPr>
              <a:t>Cloud</a:t>
            </a:r>
            <a:r>
              <a:rPr sz="1350" i="1" spc="-25" dirty="0">
                <a:latin typeface="Times New Roman"/>
                <a:cs typeface="Times New Roman"/>
              </a:rPr>
              <a:t> </a:t>
            </a:r>
            <a:r>
              <a:rPr sz="1350" i="1" spc="-30" dirty="0">
                <a:latin typeface="Times New Roman"/>
                <a:cs typeface="Times New Roman"/>
              </a:rPr>
              <a:t>Computing</a:t>
            </a:r>
            <a:r>
              <a:rPr sz="1300" spc="-30" dirty="0">
                <a:latin typeface="Times New Roman"/>
                <a:cs typeface="Times New Roman"/>
              </a:rPr>
              <a:t>,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2018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962</Words>
  <Application>Microsoft Office PowerPoint</Application>
  <PresentationFormat>On-screen Show (4:3)</PresentationFormat>
  <Paragraphs>224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MT</vt:lpstr>
      <vt:lpstr>Calibri</vt:lpstr>
      <vt:lpstr>Calibri Light</vt:lpstr>
      <vt:lpstr>Courier New</vt:lpstr>
      <vt:lpstr>Times New Roman</vt:lpstr>
      <vt:lpstr>Wingdings</vt:lpstr>
      <vt:lpstr>Office Theme</vt:lpstr>
      <vt:lpstr>Internet of Things (IoT)</vt:lpstr>
      <vt:lpstr>What is IoT?</vt:lpstr>
      <vt:lpstr>Cont…</vt:lpstr>
      <vt:lpstr>Brief History of Initial Phase of IoT</vt:lpstr>
      <vt:lpstr>Brief History of Initial Phase of IoT</vt:lpstr>
      <vt:lpstr>Brief History of Initial Phase of IoT</vt:lpstr>
      <vt:lpstr>Benefits of IoT</vt:lpstr>
      <vt:lpstr>Benefits of IoT</vt:lpstr>
      <vt:lpstr>Growth of IoT Devices</vt:lpstr>
      <vt:lpstr>Global Spending on IoT</vt:lpstr>
      <vt:lpstr>Where is IoT?</vt:lpstr>
      <vt:lpstr>Global IoT Market Share</vt:lpstr>
      <vt:lpstr>Applications of IoT</vt:lpstr>
      <vt:lpstr>Smart City</vt:lpstr>
      <vt:lpstr>Smart Home</vt:lpstr>
      <vt:lpstr>Smart Healthcare</vt:lpstr>
      <vt:lpstr>Industrial IoT</vt:lpstr>
      <vt:lpstr>Connected Cars</vt:lpstr>
      <vt:lpstr>Google’s Self-Driving Car</vt:lpstr>
      <vt:lpstr>Smart Agriculture</vt:lpstr>
      <vt:lpstr>Livestock Management</vt:lpstr>
      <vt:lpstr>Main Challenges in IoT Implementation</vt:lpstr>
      <vt:lpstr>Lessons Learned</vt:lpstr>
      <vt:lpstr>PowerPoint Presentation</vt:lpstr>
      <vt:lpstr>Growth of IoT Devices</vt:lpstr>
      <vt:lpstr>Many More 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</dc:creator>
  <cp:lastModifiedBy>Uttam Kumar Dey</cp:lastModifiedBy>
  <cp:revision>8</cp:revision>
  <dcterms:created xsi:type="dcterms:W3CDTF">2026-09-15T05:31:58Z</dcterms:created>
  <dcterms:modified xsi:type="dcterms:W3CDTF">2026-09-17T03:13:40Z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2025-07-24T00:00:00Z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2026-09-15T00:00:00Z</vt:filetime>
  </property>
  <property fmtid="{D5CDD505-2E9C-101B-9397-08002B2CF9AE}" pid="6" name="Producer">
    <vt:lpwstr>Microsoft® PowerPoint® 2019</vt:lpwstr>
  </property>
</Properties>
</file>