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 smtClean="0"/>
              <a:t>31-07-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591177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 smtClean="0"/>
              <a:t>31-07-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42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 smtClean="0"/>
              <a:t>31-07-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77498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 smtClean="0"/>
              <a:t>31-07-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322855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 smtClean="0"/>
              <a:t>31-07-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554739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 smtClean="0"/>
              <a:t>31-07-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90384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 smtClean="0"/>
              <a:t>31-07-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181881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 smtClean="0"/>
              <a:t>31-07-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129537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 smtClean="0"/>
              <a:t>31-07-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230915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 smtClean="0"/>
              <a:t>31-07-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015240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 smtClean="0"/>
              <a:t>31-07-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035858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 smtClean="0"/>
              <a:t>31-07-</a:t>
            </a:r>
            <a:r>
              <a:rPr lang="en-US" spc="-20" smtClean="0"/>
              <a:t>2025</a:t>
            </a:r>
            <a:endParaRPr lang="en-US" spc="-2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40" smtClean="0"/>
              <a:t>Dr.</a:t>
            </a:r>
            <a:r>
              <a:rPr lang="en-US" spc="-25" smtClean="0"/>
              <a:t> </a:t>
            </a:r>
            <a:r>
              <a:rPr lang="en-US" smtClean="0"/>
              <a:t>Manas</a:t>
            </a:r>
            <a:r>
              <a:rPr lang="en-US" spc="-15" smtClean="0"/>
              <a:t> </a:t>
            </a:r>
            <a:r>
              <a:rPr lang="en-US" spc="-10" smtClean="0"/>
              <a:t>Khatua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795811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/pin/641129696942354756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nem2m.org/using-onem2m/developers/basics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onem2m.org/using-onem2m/developers/basics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682620"/>
            <a:ext cx="78867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68070" algn="ctr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000000"/>
                </a:solidFill>
                <a:latin typeface="Times New Roman"/>
                <a:cs typeface="Times New Roman"/>
              </a:rPr>
              <a:t>Internet</a:t>
            </a:r>
            <a:r>
              <a:rPr sz="4400" b="1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1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4400" b="1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1" dirty="0">
                <a:solidFill>
                  <a:srgbClr val="000000"/>
                </a:solidFill>
                <a:latin typeface="Times New Roman"/>
                <a:cs typeface="Times New Roman"/>
              </a:rPr>
              <a:t>Things </a:t>
            </a:r>
            <a:r>
              <a:rPr sz="4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(IoT)</a:t>
            </a:r>
            <a:endParaRPr sz="4400" b="1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67000" y="1915315"/>
            <a:ext cx="3401695" cy="12561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4000" b="1" dirty="0" smtClean="0">
                <a:solidFill>
                  <a:schemeClr val="tx1"/>
                </a:solidFill>
              </a:rPr>
              <a:t>Chapter 2</a:t>
            </a:r>
            <a:endParaRPr lang="en-US" sz="4000" b="1" dirty="0" smtClean="0">
              <a:solidFill>
                <a:srgbClr val="FF0000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 err="1" smtClean="0">
                <a:solidFill>
                  <a:srgbClr val="FF0000"/>
                </a:solidFill>
                <a:latin typeface="Calibri"/>
                <a:cs typeface="Calibri"/>
              </a:rPr>
              <a:t>IoT</a:t>
            </a:r>
            <a:r>
              <a:rPr sz="4000" b="1" spc="-30" dirty="0" smtClean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00" b="1" spc="-20" dirty="0" smtClean="0">
                <a:solidFill>
                  <a:srgbClr val="FF0000"/>
                </a:solidFill>
                <a:latin typeface="Calibri"/>
                <a:cs typeface="Calibri"/>
              </a:rPr>
              <a:t>Architecture</a:t>
            </a:r>
            <a:endParaRPr lang="en-US" sz="4000" b="1" spc="-20" dirty="0" smtClean="0">
              <a:solidFill>
                <a:srgbClr val="FF0000"/>
              </a:solidFill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8650" y="6019800"/>
            <a:ext cx="8227059" cy="352425"/>
            <a:chOff x="420623" y="6505954"/>
            <a:chExt cx="8227059" cy="3524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0623" y="6507483"/>
              <a:ext cx="8226552" cy="3505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071" y="6505954"/>
              <a:ext cx="7915656" cy="35204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7867" y="6534910"/>
              <a:ext cx="8136635" cy="30784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67867" y="6534910"/>
              <a:ext cx="8136890" cy="307975"/>
            </a:xfrm>
            <a:custGeom>
              <a:avLst/>
              <a:gdLst/>
              <a:ahLst/>
              <a:cxnLst/>
              <a:rect l="l" t="t" r="r" b="b"/>
              <a:pathLst>
                <a:path w="8136890" h="307975">
                  <a:moveTo>
                    <a:pt x="0" y="307848"/>
                  </a:moveTo>
                  <a:lnTo>
                    <a:pt x="8136635" y="307848"/>
                  </a:lnTo>
                  <a:lnTo>
                    <a:pt x="8136635" y="0"/>
                  </a:lnTo>
                  <a:lnTo>
                    <a:pt x="0" y="0"/>
                  </a:lnTo>
                  <a:lnTo>
                    <a:pt x="0" y="307848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80467" y="6071414"/>
            <a:ext cx="81280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2729">
              <a:lnSpc>
                <a:spcPct val="100000"/>
              </a:lnSpc>
              <a:spcBef>
                <a:spcPts val="105"/>
              </a:spcBef>
            </a:pPr>
            <a:r>
              <a:rPr sz="1400" i="1" dirty="0">
                <a:latin typeface="Calibri"/>
                <a:cs typeface="Calibri"/>
              </a:rPr>
              <a:t>“We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must</a:t>
            </a:r>
            <a:r>
              <a:rPr sz="1400" i="1" spc="-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have</a:t>
            </a:r>
            <a:r>
              <a:rPr sz="1400" i="1" spc="-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life-building,</a:t>
            </a:r>
            <a:r>
              <a:rPr sz="1400" i="1" spc="-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man-making,</a:t>
            </a:r>
            <a:r>
              <a:rPr sz="1400" i="1" spc="-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character-</a:t>
            </a:r>
            <a:r>
              <a:rPr sz="1400" i="1" dirty="0">
                <a:latin typeface="Calibri"/>
                <a:cs typeface="Calibri"/>
              </a:rPr>
              <a:t>making</a:t>
            </a:r>
            <a:r>
              <a:rPr sz="1400" i="1" spc="-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assimilation</a:t>
            </a:r>
            <a:r>
              <a:rPr sz="1400" i="1" dirty="0">
                <a:latin typeface="Calibri"/>
                <a:cs typeface="Calibri"/>
              </a:rPr>
              <a:t> of</a:t>
            </a:r>
            <a:r>
              <a:rPr sz="1400" i="1" spc="-25" dirty="0">
                <a:latin typeface="Calibri"/>
                <a:cs typeface="Calibri"/>
              </a:rPr>
              <a:t> ideas.”</a:t>
            </a:r>
            <a:r>
              <a:rPr sz="1400" i="1" spc="-8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–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Swami</a:t>
            </a:r>
            <a:r>
              <a:rPr sz="1400" b="1" i="1" spc="-15" dirty="0">
                <a:latin typeface="Calibri"/>
                <a:cs typeface="Calibri"/>
              </a:rPr>
              <a:t> </a:t>
            </a:r>
            <a:r>
              <a:rPr sz="1400" b="1" i="1" spc="-10" dirty="0">
                <a:latin typeface="Calibri"/>
                <a:cs typeface="Calibri"/>
              </a:rPr>
              <a:t>Vivekananda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36909" y="3244334"/>
            <a:ext cx="34701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105"/>
              </a:spcBef>
            </a:pPr>
            <a:r>
              <a:rPr lang="en-US" sz="2400" b="1" spc="-10" dirty="0" smtClean="0">
                <a:solidFill>
                  <a:srgbClr val="0033CC"/>
                </a:solidFill>
                <a:latin typeface="+mn-lt"/>
                <a:cs typeface="Calibri"/>
              </a:rPr>
              <a:t>Course Code: </a:t>
            </a:r>
            <a:r>
              <a:rPr lang="en-US" sz="2400" b="1" dirty="0">
                <a:latin typeface="+mn-lt"/>
              </a:rPr>
              <a:t>CSE0612405</a:t>
            </a:r>
            <a:endParaRPr lang="en-US" sz="2400" b="1" dirty="0">
              <a:latin typeface="+mn-lt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445756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</a:t>
            </a:r>
            <a:r>
              <a:rPr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Plan?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31-07-</a:t>
            </a:r>
            <a:r>
              <a:rPr spc="-20" dirty="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pic>
        <p:nvPicPr>
          <p:cNvPr id="3" name="object 3" descr="Image result for smart home architectur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4455" y="1092708"/>
            <a:ext cx="4325611" cy="220624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3352" y="1190320"/>
            <a:ext cx="3174365" cy="1551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115" indent="-399415">
              <a:lnSpc>
                <a:spcPts val="2280"/>
              </a:lnSpc>
              <a:spcBef>
                <a:spcPts val="105"/>
              </a:spcBef>
              <a:buFont typeface="Wingdings"/>
              <a:buChar char=""/>
              <a:tabLst>
                <a:tab pos="412115" algn="l"/>
              </a:tabLst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present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days,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networks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run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modern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business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2000">
              <a:latin typeface="Calibri"/>
              <a:cs typeface="Calibri"/>
            </a:endParaRPr>
          </a:p>
          <a:p>
            <a:pPr marL="412115" indent="-399415">
              <a:lnSpc>
                <a:spcPts val="2280"/>
              </a:lnSpc>
              <a:buFont typeface="Wingdings"/>
              <a:buChar char=""/>
              <a:tabLst>
                <a:tab pos="412115" algn="l"/>
              </a:tabLst>
            </a:pPr>
            <a:r>
              <a:rPr sz="2000" dirty="0">
                <a:latin typeface="Calibri"/>
                <a:cs typeface="Calibri"/>
              </a:rPr>
              <a:t>So,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should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never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built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without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careful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planning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46828" y="1189735"/>
            <a:ext cx="5949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Smart </a:t>
            </a:r>
            <a:r>
              <a:rPr sz="1800" b="1" spc="-20" dirty="0">
                <a:latin typeface="Calibri"/>
                <a:cs typeface="Calibri"/>
              </a:rPr>
              <a:t>Home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8267" y="3451352"/>
            <a:ext cx="4062095" cy="57467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585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spc="-10" dirty="0">
                <a:latin typeface="Calibri"/>
                <a:cs typeface="Calibri"/>
              </a:rPr>
              <a:t>Architecture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how</a:t>
            </a:r>
            <a:r>
              <a:rPr sz="20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you</a:t>
            </a:r>
            <a:r>
              <a:rPr sz="20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design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your </a:t>
            </a:r>
            <a:r>
              <a:rPr sz="2000" dirty="0">
                <a:latin typeface="Calibri"/>
                <a:cs typeface="Calibri"/>
              </a:rPr>
              <a:t>application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solution.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8267" y="4305046"/>
            <a:ext cx="3215640" cy="1583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Essence</a:t>
            </a:r>
            <a:r>
              <a:rPr sz="200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200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IoT</a:t>
            </a:r>
            <a:r>
              <a:rPr sz="200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CC"/>
                </a:solidFill>
                <a:latin typeface="Calibri"/>
                <a:cs typeface="Calibri"/>
              </a:rPr>
              <a:t>architecture</a:t>
            </a:r>
            <a:r>
              <a:rPr sz="2000" spc="-10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286385" marR="1024255" lvl="1" indent="-286385" algn="r">
              <a:lnSpc>
                <a:spcPct val="100000"/>
              </a:lnSpc>
              <a:spcBef>
                <a:spcPts val="10"/>
              </a:spcBef>
              <a:buFont typeface="Wingdings"/>
              <a:buChar char="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how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is</a:t>
            </a:r>
            <a:endParaRPr sz="1800">
              <a:latin typeface="Calibri"/>
              <a:cs typeface="Calibri"/>
            </a:endParaRPr>
          </a:p>
          <a:p>
            <a:pPr marL="227965" marR="1025525" lvl="2" indent="-227965" algn="r">
              <a:lnSpc>
                <a:spcPct val="100000"/>
              </a:lnSpc>
              <a:spcBef>
                <a:spcPts val="10"/>
              </a:spcBef>
              <a:buFont typeface="Wingdings"/>
              <a:buChar char=""/>
              <a:tabLst>
                <a:tab pos="227965" algn="l"/>
              </a:tabLst>
            </a:pPr>
            <a:r>
              <a:rPr sz="1600" spc="-10" dirty="0">
                <a:latin typeface="Calibri"/>
                <a:cs typeface="Calibri"/>
              </a:rPr>
              <a:t>transported,</a:t>
            </a:r>
            <a:endParaRPr sz="1600">
              <a:latin typeface="Calibri"/>
              <a:cs typeface="Calibri"/>
            </a:endParaRPr>
          </a:p>
          <a:p>
            <a:pPr marL="1155065" lvl="2" indent="-227965">
              <a:lnSpc>
                <a:spcPct val="100000"/>
              </a:lnSpc>
              <a:buFont typeface="Wingdings"/>
              <a:buChar char=""/>
              <a:tabLst>
                <a:tab pos="1155065" algn="l"/>
              </a:tabLst>
            </a:pPr>
            <a:r>
              <a:rPr sz="1600" spc="-10" dirty="0">
                <a:latin typeface="Calibri"/>
                <a:cs typeface="Calibri"/>
              </a:rPr>
              <a:t>collected,</a:t>
            </a:r>
            <a:endParaRPr sz="1600">
              <a:latin typeface="Calibri"/>
              <a:cs typeface="Calibri"/>
            </a:endParaRPr>
          </a:p>
          <a:p>
            <a:pPr marL="1155065" lvl="2" indent="-227965">
              <a:lnSpc>
                <a:spcPct val="100000"/>
              </a:lnSpc>
              <a:buFont typeface="Wingdings"/>
              <a:buChar char=""/>
              <a:tabLst>
                <a:tab pos="1155065" algn="l"/>
              </a:tabLst>
            </a:pPr>
            <a:r>
              <a:rPr sz="1600" spc="-10" dirty="0">
                <a:latin typeface="Calibri"/>
                <a:cs typeface="Calibri"/>
              </a:rPr>
              <a:t>analyzed, </a:t>
            </a:r>
            <a:r>
              <a:rPr sz="1600" spc="-25" dirty="0">
                <a:latin typeface="Calibri"/>
                <a:cs typeface="Calibri"/>
              </a:rPr>
              <a:t>and</a:t>
            </a:r>
            <a:endParaRPr sz="1600">
              <a:latin typeface="Calibri"/>
              <a:cs typeface="Calibri"/>
            </a:endParaRPr>
          </a:p>
          <a:p>
            <a:pPr marL="1155065" lvl="2" indent="-227965">
              <a:lnSpc>
                <a:spcPct val="100000"/>
              </a:lnSpc>
              <a:buFont typeface="Wingdings"/>
              <a:buChar char=""/>
              <a:tabLst>
                <a:tab pos="1155065" algn="l"/>
              </a:tabLst>
            </a:pPr>
            <a:r>
              <a:rPr sz="1600" dirty="0">
                <a:latin typeface="Calibri"/>
                <a:cs typeface="Calibri"/>
              </a:rPr>
              <a:t>ultimately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acted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upon.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47917" y="3962145"/>
            <a:ext cx="135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Driving</a:t>
            </a:r>
            <a:r>
              <a:rPr sz="18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forces: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47917" y="4236466"/>
            <a:ext cx="267525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</a:tabLst>
            </a:pPr>
            <a:r>
              <a:rPr sz="1800" spc="-10" dirty="0">
                <a:latin typeface="Calibri"/>
                <a:cs typeface="Calibri"/>
              </a:rPr>
              <a:t>Scale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sz="1800" spc="-10" dirty="0">
                <a:latin typeface="Calibri"/>
                <a:cs typeface="Calibri"/>
              </a:rPr>
              <a:t>Security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sz="1800" spc="-10" dirty="0">
                <a:latin typeface="Calibri"/>
                <a:cs typeface="Calibri"/>
              </a:rPr>
              <a:t>Constrained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devices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Massive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Support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legacy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devices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583955"/>
            <a:ext cx="788670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sz="3600" b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z="36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31-07-</a:t>
            </a:r>
            <a:r>
              <a:rPr spc="-20" dirty="0"/>
              <a:t>2025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pic>
        <p:nvPicPr>
          <p:cNvPr id="3" name="object 3" descr="The Layers of IoT | Iot, Business logic, Network layer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216" y="1719884"/>
            <a:ext cx="3978965" cy="33853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61103" y="1302512"/>
            <a:ext cx="4182745" cy="44843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58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Calibri"/>
                <a:cs typeface="Calibri"/>
              </a:rPr>
              <a:t>Perception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layer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physical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layer,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sensors</a:t>
            </a:r>
            <a:r>
              <a:rPr sz="200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sensing</a:t>
            </a:r>
            <a:r>
              <a:rPr sz="20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gathering</a:t>
            </a:r>
            <a:r>
              <a:rPr sz="20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about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environment.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4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5600" marR="210820" indent="-342900">
              <a:lnSpc>
                <a:spcPct val="8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Calibri"/>
                <a:cs typeface="Calibri"/>
              </a:rPr>
              <a:t>Network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layer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responsible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connecting</a:t>
            </a:r>
            <a:r>
              <a:rPr sz="20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other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smart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things,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network</a:t>
            </a:r>
            <a:r>
              <a:rPr sz="200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devices,</a:t>
            </a:r>
            <a:r>
              <a:rPr sz="200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servers</a:t>
            </a:r>
            <a:r>
              <a:rPr sz="2000" dirty="0">
                <a:latin typeface="Calibri"/>
                <a:cs typeface="Calibri"/>
              </a:rPr>
              <a:t>.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Its </a:t>
            </a:r>
            <a:r>
              <a:rPr sz="2000" spc="-10" dirty="0">
                <a:latin typeface="Calibri"/>
                <a:cs typeface="Calibri"/>
              </a:rPr>
              <a:t>features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 </a:t>
            </a:r>
            <a:r>
              <a:rPr sz="2000" spc="-10" dirty="0">
                <a:solidFill>
                  <a:srgbClr val="C00000"/>
                </a:solidFill>
                <a:latin typeface="Calibri"/>
                <a:cs typeface="Calibri"/>
              </a:rPr>
              <a:t>transmitting</a:t>
            </a:r>
            <a:r>
              <a:rPr sz="20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processing</a:t>
            </a:r>
            <a:r>
              <a:rPr sz="20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sensor data.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5600" marR="223520" indent="-342900">
              <a:lnSpc>
                <a:spcPct val="8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Calibri"/>
                <a:cs typeface="Calibri"/>
              </a:rPr>
              <a:t>Application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layer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responsible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delivering</a:t>
            </a:r>
            <a:r>
              <a:rPr sz="2000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application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specific </a:t>
            </a:r>
            <a:r>
              <a:rPr sz="2000" dirty="0">
                <a:latin typeface="Calibri"/>
                <a:cs typeface="Calibri"/>
              </a:rPr>
              <a:t>services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CC"/>
                </a:solidFill>
                <a:latin typeface="Calibri"/>
                <a:cs typeface="Calibri"/>
              </a:rPr>
              <a:t>user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ts val="1945"/>
              </a:lnSpc>
              <a:spcBef>
                <a:spcPts val="10"/>
              </a:spcBef>
              <a:tabLst>
                <a:tab pos="756285" algn="l"/>
              </a:tabLst>
            </a:pPr>
            <a:r>
              <a:rPr sz="1800" dirty="0">
                <a:latin typeface="Arial MT"/>
                <a:cs typeface="Arial MT"/>
              </a:rPr>
              <a:t>–	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example,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smart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homes,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smart</a:t>
            </a:r>
            <a:endParaRPr sz="1800">
              <a:latin typeface="Calibri"/>
              <a:cs typeface="Calibri"/>
            </a:endParaRPr>
          </a:p>
          <a:p>
            <a:pPr marL="756285">
              <a:lnSpc>
                <a:spcPts val="1945"/>
              </a:lnSpc>
            </a:pPr>
            <a:r>
              <a:rPr sz="1800" dirty="0">
                <a:latin typeface="Calibri"/>
                <a:cs typeface="Calibri"/>
              </a:rPr>
              <a:t>cities,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smart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health,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0200" y="6151575"/>
            <a:ext cx="398970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Source: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https://www.pinterest.com/pin/641129696942354756/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198794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</a:t>
            </a:r>
            <a:r>
              <a:rPr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3657600" y="955899"/>
            <a:ext cx="5486400" cy="504240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167005" indent="-342900">
              <a:lnSpc>
                <a:spcPct val="80100"/>
              </a:lnSpc>
              <a:spcBef>
                <a:spcPts val="459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sz="2000" b="1" dirty="0">
                <a:cs typeface="Calibri"/>
              </a:rPr>
              <a:t>Sensing</a:t>
            </a:r>
            <a:r>
              <a:rPr sz="2000" b="1" spc="-50" dirty="0">
                <a:cs typeface="Calibri"/>
              </a:rPr>
              <a:t> </a:t>
            </a:r>
            <a:r>
              <a:rPr sz="2000" b="1" dirty="0">
                <a:cs typeface="Calibri"/>
              </a:rPr>
              <a:t>layer:</a:t>
            </a:r>
            <a:r>
              <a:rPr sz="2000" b="1" spc="250" dirty="0">
                <a:cs typeface="Calibri"/>
              </a:rPr>
              <a:t> </a:t>
            </a:r>
            <a:r>
              <a:rPr sz="2000" dirty="0"/>
              <a:t>This</a:t>
            </a:r>
            <a:r>
              <a:rPr sz="2000" spc="-45" dirty="0"/>
              <a:t> </a:t>
            </a:r>
            <a:r>
              <a:rPr sz="2000" dirty="0"/>
              <a:t>layer</a:t>
            </a:r>
            <a:r>
              <a:rPr sz="2000" spc="-30" dirty="0"/>
              <a:t> </a:t>
            </a:r>
            <a:r>
              <a:rPr sz="2000" dirty="0"/>
              <a:t>includes</a:t>
            </a:r>
            <a:r>
              <a:rPr sz="2000" spc="-35" dirty="0"/>
              <a:t> </a:t>
            </a:r>
            <a:r>
              <a:rPr sz="2000" dirty="0">
                <a:solidFill>
                  <a:srgbClr val="0033CC"/>
                </a:solidFill>
              </a:rPr>
              <a:t>sensors</a:t>
            </a:r>
            <a:r>
              <a:rPr sz="2000" spc="-45" dirty="0">
                <a:solidFill>
                  <a:srgbClr val="0033CC"/>
                </a:solidFill>
              </a:rPr>
              <a:t> </a:t>
            </a:r>
            <a:r>
              <a:rPr sz="2000" spc="-25" dirty="0"/>
              <a:t>and </a:t>
            </a:r>
            <a:r>
              <a:rPr sz="2000" spc="-10" dirty="0">
                <a:solidFill>
                  <a:srgbClr val="0033CC"/>
                </a:solidFill>
              </a:rPr>
              <a:t>actuators</a:t>
            </a:r>
            <a:r>
              <a:rPr sz="2000" spc="-50" dirty="0">
                <a:solidFill>
                  <a:srgbClr val="0033CC"/>
                </a:solidFill>
              </a:rPr>
              <a:t> </a:t>
            </a:r>
            <a:r>
              <a:rPr sz="2000" dirty="0"/>
              <a:t>that</a:t>
            </a:r>
            <a:r>
              <a:rPr sz="2000" spc="-45" dirty="0"/>
              <a:t> </a:t>
            </a:r>
            <a:r>
              <a:rPr sz="2000" dirty="0"/>
              <a:t>are</a:t>
            </a:r>
            <a:r>
              <a:rPr sz="2000" spc="-25" dirty="0"/>
              <a:t> </a:t>
            </a:r>
            <a:r>
              <a:rPr sz="2000" dirty="0"/>
              <a:t>placed</a:t>
            </a:r>
            <a:r>
              <a:rPr sz="2000" spc="-20" dirty="0"/>
              <a:t> </a:t>
            </a:r>
            <a:r>
              <a:rPr sz="2000" dirty="0"/>
              <a:t>in</a:t>
            </a:r>
            <a:r>
              <a:rPr sz="2000" spc="-10" dirty="0"/>
              <a:t> </a:t>
            </a:r>
            <a:r>
              <a:rPr sz="2000" dirty="0"/>
              <a:t>the</a:t>
            </a:r>
            <a:r>
              <a:rPr sz="2000" spc="-20" dirty="0"/>
              <a:t> </a:t>
            </a:r>
            <a:r>
              <a:rPr sz="2000" spc="-10" dirty="0"/>
              <a:t>environment</a:t>
            </a:r>
            <a:r>
              <a:rPr sz="2000" spc="-30" dirty="0"/>
              <a:t> </a:t>
            </a:r>
            <a:r>
              <a:rPr sz="2000" spc="-25" dirty="0"/>
              <a:t>to </a:t>
            </a:r>
            <a:r>
              <a:rPr sz="2000" spc="-10" dirty="0"/>
              <a:t>gather</a:t>
            </a:r>
            <a:r>
              <a:rPr sz="2000" spc="-30" dirty="0"/>
              <a:t> </a:t>
            </a:r>
            <a:r>
              <a:rPr sz="2000" spc="-10" dirty="0"/>
              <a:t>information</a:t>
            </a:r>
          </a:p>
          <a:p>
            <a:pPr>
              <a:lnSpc>
                <a:spcPct val="100000"/>
              </a:lnSpc>
              <a:spcBef>
                <a:spcPts val="325"/>
              </a:spcBef>
              <a:buFont typeface="Wingdings" panose="05000000000000000000" pitchFamily="2" charset="2"/>
              <a:buChar char="q"/>
            </a:pPr>
            <a:endParaRPr sz="2000" spc="-10" dirty="0"/>
          </a:p>
          <a:p>
            <a:pPr marL="355600" marR="5080" indent="-342900">
              <a:lnSpc>
                <a:spcPct val="80000"/>
              </a:lnSpc>
              <a:spcBef>
                <a:spcPts val="5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sz="2000" b="1" dirty="0">
                <a:cs typeface="Calibri"/>
              </a:rPr>
              <a:t>Network</a:t>
            </a:r>
            <a:r>
              <a:rPr sz="2000" b="1" spc="-5" dirty="0">
                <a:cs typeface="Calibri"/>
              </a:rPr>
              <a:t> </a:t>
            </a:r>
            <a:r>
              <a:rPr sz="2000" b="1" dirty="0">
                <a:cs typeface="Calibri"/>
              </a:rPr>
              <a:t>layer:</a:t>
            </a:r>
            <a:r>
              <a:rPr sz="2000" b="1" spc="260" dirty="0">
                <a:cs typeface="Calibri"/>
              </a:rPr>
              <a:t> </a:t>
            </a:r>
            <a:r>
              <a:rPr sz="2000" dirty="0"/>
              <a:t>It</a:t>
            </a:r>
            <a:r>
              <a:rPr sz="2000" spc="-40" dirty="0"/>
              <a:t> </a:t>
            </a:r>
            <a:r>
              <a:rPr sz="2000" dirty="0"/>
              <a:t>includes</a:t>
            </a:r>
            <a:r>
              <a:rPr sz="2000" spc="-25" dirty="0"/>
              <a:t> </a:t>
            </a:r>
            <a:r>
              <a:rPr sz="2000" spc="-10" dirty="0">
                <a:solidFill>
                  <a:srgbClr val="0033CC"/>
                </a:solidFill>
              </a:rPr>
              <a:t>protocols</a:t>
            </a:r>
            <a:r>
              <a:rPr sz="2000" spc="-45" dirty="0">
                <a:solidFill>
                  <a:srgbClr val="0033CC"/>
                </a:solidFill>
              </a:rPr>
              <a:t> </a:t>
            </a:r>
            <a:r>
              <a:rPr sz="2000" spc="-25" dirty="0"/>
              <a:t>and </a:t>
            </a:r>
            <a:r>
              <a:rPr sz="2000" spc="-10" dirty="0">
                <a:solidFill>
                  <a:srgbClr val="0033CC"/>
                </a:solidFill>
              </a:rPr>
              <a:t>technologies</a:t>
            </a:r>
            <a:r>
              <a:rPr sz="2000" spc="-35" dirty="0">
                <a:solidFill>
                  <a:srgbClr val="0033CC"/>
                </a:solidFill>
              </a:rPr>
              <a:t> </a:t>
            </a:r>
            <a:r>
              <a:rPr sz="2000" dirty="0"/>
              <a:t>that</a:t>
            </a:r>
            <a:r>
              <a:rPr sz="2000" spc="-55" dirty="0"/>
              <a:t> </a:t>
            </a:r>
            <a:r>
              <a:rPr sz="2000" dirty="0"/>
              <a:t>enable</a:t>
            </a:r>
            <a:r>
              <a:rPr sz="2000" spc="-25" dirty="0"/>
              <a:t> </a:t>
            </a:r>
            <a:r>
              <a:rPr sz="2000" dirty="0"/>
              <a:t>devices</a:t>
            </a:r>
            <a:r>
              <a:rPr sz="2000" spc="-5" dirty="0"/>
              <a:t> </a:t>
            </a:r>
            <a:r>
              <a:rPr sz="2000" dirty="0"/>
              <a:t>to</a:t>
            </a:r>
            <a:r>
              <a:rPr sz="2000" spc="-35" dirty="0"/>
              <a:t> </a:t>
            </a:r>
            <a:r>
              <a:rPr sz="2000" dirty="0"/>
              <a:t>connect</a:t>
            </a:r>
            <a:r>
              <a:rPr sz="2000" spc="-45" dirty="0"/>
              <a:t> </a:t>
            </a:r>
            <a:r>
              <a:rPr sz="2000" spc="-25" dirty="0"/>
              <a:t>and </a:t>
            </a:r>
            <a:r>
              <a:rPr sz="2000" spc="-10" dirty="0"/>
              <a:t>communicate</a:t>
            </a:r>
            <a:r>
              <a:rPr sz="2000" spc="-50" dirty="0"/>
              <a:t> </a:t>
            </a:r>
            <a:r>
              <a:rPr sz="2000" dirty="0"/>
              <a:t>with</a:t>
            </a:r>
            <a:r>
              <a:rPr sz="2000" spc="-10" dirty="0"/>
              <a:t> </a:t>
            </a:r>
            <a:r>
              <a:rPr sz="2000" dirty="0"/>
              <a:t>each</a:t>
            </a:r>
            <a:r>
              <a:rPr sz="2000" spc="-35" dirty="0"/>
              <a:t> </a:t>
            </a:r>
            <a:r>
              <a:rPr sz="2000" dirty="0"/>
              <a:t>other</a:t>
            </a:r>
            <a:r>
              <a:rPr sz="2000" spc="-15" dirty="0"/>
              <a:t> </a:t>
            </a:r>
            <a:r>
              <a:rPr sz="2000" dirty="0"/>
              <a:t>and</a:t>
            </a:r>
            <a:r>
              <a:rPr sz="2000" spc="-35" dirty="0"/>
              <a:t> </a:t>
            </a:r>
            <a:r>
              <a:rPr sz="2000" dirty="0"/>
              <a:t>with</a:t>
            </a:r>
            <a:r>
              <a:rPr sz="2000" spc="-10" dirty="0"/>
              <a:t> </a:t>
            </a:r>
            <a:r>
              <a:rPr sz="2000" dirty="0"/>
              <a:t>the</a:t>
            </a:r>
            <a:r>
              <a:rPr sz="2000" spc="-35" dirty="0"/>
              <a:t> </a:t>
            </a:r>
            <a:r>
              <a:rPr sz="2000" spc="-10" dirty="0"/>
              <a:t>wider internet</a:t>
            </a:r>
            <a:r>
              <a:rPr sz="2000" spc="-10" dirty="0" smtClean="0"/>
              <a:t>.</a:t>
            </a:r>
            <a:endParaRPr sz="2000" spc="-10" dirty="0"/>
          </a:p>
          <a:p>
            <a:pPr marL="355600" marR="213360" indent="-342900">
              <a:lnSpc>
                <a:spcPct val="80000"/>
              </a:lnSpc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sz="2000" b="1" dirty="0">
                <a:cs typeface="Calibri"/>
              </a:rPr>
              <a:t>Data</a:t>
            </a:r>
            <a:r>
              <a:rPr sz="2000" b="1" spc="-45" dirty="0">
                <a:cs typeface="Calibri"/>
              </a:rPr>
              <a:t> </a:t>
            </a:r>
            <a:r>
              <a:rPr sz="2000" b="1" dirty="0">
                <a:cs typeface="Calibri"/>
              </a:rPr>
              <a:t>processing</a:t>
            </a:r>
            <a:r>
              <a:rPr sz="2000" b="1" spc="-45" dirty="0">
                <a:cs typeface="Calibri"/>
              </a:rPr>
              <a:t> </a:t>
            </a:r>
            <a:r>
              <a:rPr sz="2000" b="1" dirty="0">
                <a:cs typeface="Calibri"/>
              </a:rPr>
              <a:t>Layer:</a:t>
            </a:r>
            <a:r>
              <a:rPr sz="2000" b="1" spc="-55" dirty="0">
                <a:cs typeface="Calibri"/>
              </a:rPr>
              <a:t> </a:t>
            </a:r>
            <a:r>
              <a:rPr sz="2000" dirty="0"/>
              <a:t>It</a:t>
            </a:r>
            <a:r>
              <a:rPr sz="2000" spc="-55" dirty="0"/>
              <a:t> </a:t>
            </a:r>
            <a:r>
              <a:rPr sz="2000" dirty="0"/>
              <a:t>includes</a:t>
            </a:r>
            <a:r>
              <a:rPr sz="2000" spc="-40" dirty="0"/>
              <a:t> </a:t>
            </a:r>
            <a:r>
              <a:rPr sz="2000" dirty="0"/>
              <a:t>a</a:t>
            </a:r>
            <a:r>
              <a:rPr sz="2000" spc="-45" dirty="0"/>
              <a:t> </a:t>
            </a:r>
            <a:r>
              <a:rPr sz="2000" dirty="0"/>
              <a:t>variety</a:t>
            </a:r>
            <a:r>
              <a:rPr sz="2000" spc="-60" dirty="0"/>
              <a:t> </a:t>
            </a:r>
            <a:r>
              <a:rPr sz="2000" spc="-25" dirty="0"/>
              <a:t>of </a:t>
            </a:r>
            <a:r>
              <a:rPr sz="2000" spc="-10" dirty="0">
                <a:solidFill>
                  <a:srgbClr val="0033CC"/>
                </a:solidFill>
              </a:rPr>
              <a:t>technologies</a:t>
            </a:r>
            <a:r>
              <a:rPr sz="2000" spc="-20" dirty="0">
                <a:solidFill>
                  <a:srgbClr val="0033CC"/>
                </a:solidFill>
              </a:rPr>
              <a:t> </a:t>
            </a:r>
            <a:r>
              <a:rPr sz="2000" dirty="0"/>
              <a:t>and</a:t>
            </a:r>
            <a:r>
              <a:rPr sz="2000" spc="-30" dirty="0"/>
              <a:t> </a:t>
            </a:r>
            <a:r>
              <a:rPr sz="2000" dirty="0">
                <a:solidFill>
                  <a:srgbClr val="0033CC"/>
                </a:solidFill>
              </a:rPr>
              <a:t>tools</a:t>
            </a:r>
            <a:r>
              <a:rPr sz="2000" dirty="0"/>
              <a:t>,</a:t>
            </a:r>
            <a:r>
              <a:rPr sz="2000" spc="-15" dirty="0"/>
              <a:t> </a:t>
            </a:r>
            <a:r>
              <a:rPr sz="2000" dirty="0"/>
              <a:t>such</a:t>
            </a:r>
            <a:r>
              <a:rPr sz="2000" spc="-20" dirty="0"/>
              <a:t> </a:t>
            </a:r>
            <a:r>
              <a:rPr sz="2000" dirty="0"/>
              <a:t>as</a:t>
            </a:r>
            <a:r>
              <a:rPr sz="2000" spc="-15" dirty="0"/>
              <a:t> </a:t>
            </a:r>
            <a:r>
              <a:rPr sz="2000" spc="-20" dirty="0"/>
              <a:t>data </a:t>
            </a:r>
            <a:r>
              <a:rPr sz="2000" spc="-10" dirty="0"/>
              <a:t>management</a:t>
            </a:r>
            <a:r>
              <a:rPr sz="2000" spc="-25" dirty="0"/>
              <a:t> </a:t>
            </a:r>
            <a:r>
              <a:rPr sz="2000" spc="-10" dirty="0"/>
              <a:t>systems,</a:t>
            </a:r>
            <a:r>
              <a:rPr sz="2000" spc="-30" dirty="0"/>
              <a:t> </a:t>
            </a:r>
            <a:r>
              <a:rPr sz="2000" dirty="0"/>
              <a:t>analytics</a:t>
            </a:r>
            <a:r>
              <a:rPr sz="2000" spc="-20" dirty="0"/>
              <a:t> </a:t>
            </a:r>
            <a:r>
              <a:rPr sz="2000" spc="-10" dirty="0"/>
              <a:t>platforms,</a:t>
            </a:r>
            <a:r>
              <a:rPr sz="2000" spc="-5" dirty="0"/>
              <a:t> </a:t>
            </a:r>
            <a:r>
              <a:rPr sz="2000" spc="-25" dirty="0"/>
              <a:t>and </a:t>
            </a:r>
            <a:r>
              <a:rPr sz="2000" dirty="0"/>
              <a:t>machine</a:t>
            </a:r>
            <a:r>
              <a:rPr sz="2000" spc="-40" dirty="0"/>
              <a:t> </a:t>
            </a:r>
            <a:r>
              <a:rPr sz="2000" dirty="0"/>
              <a:t>learning</a:t>
            </a:r>
            <a:r>
              <a:rPr sz="2000" spc="-55" dirty="0"/>
              <a:t> </a:t>
            </a:r>
            <a:r>
              <a:rPr sz="2000" dirty="0"/>
              <a:t>algorithms,</a:t>
            </a:r>
            <a:r>
              <a:rPr sz="2000" spc="-55" dirty="0"/>
              <a:t> </a:t>
            </a:r>
            <a:r>
              <a:rPr sz="2000" dirty="0"/>
              <a:t>to</a:t>
            </a:r>
            <a:r>
              <a:rPr sz="2000" spc="-30" dirty="0"/>
              <a:t> </a:t>
            </a:r>
            <a:r>
              <a:rPr sz="2000" spc="-10" dirty="0"/>
              <a:t>extract </a:t>
            </a:r>
            <a:r>
              <a:rPr sz="2000" dirty="0"/>
              <a:t>meaningful</a:t>
            </a:r>
            <a:r>
              <a:rPr sz="2000" spc="-50" dirty="0"/>
              <a:t> </a:t>
            </a:r>
            <a:r>
              <a:rPr sz="2000" dirty="0"/>
              <a:t>insights</a:t>
            </a:r>
            <a:r>
              <a:rPr sz="2000" spc="-45" dirty="0"/>
              <a:t> </a:t>
            </a:r>
            <a:r>
              <a:rPr sz="2000" dirty="0"/>
              <a:t>from</a:t>
            </a:r>
            <a:r>
              <a:rPr sz="2000" spc="-30" dirty="0"/>
              <a:t> </a:t>
            </a:r>
            <a:r>
              <a:rPr sz="2000" dirty="0"/>
              <a:t>the</a:t>
            </a:r>
            <a:r>
              <a:rPr sz="2000" spc="-40" dirty="0"/>
              <a:t> </a:t>
            </a:r>
            <a:r>
              <a:rPr sz="2000" dirty="0"/>
              <a:t>data</a:t>
            </a:r>
            <a:r>
              <a:rPr sz="2000" spc="-60" dirty="0"/>
              <a:t> </a:t>
            </a:r>
            <a:r>
              <a:rPr sz="2000" dirty="0"/>
              <a:t>and</a:t>
            </a:r>
            <a:r>
              <a:rPr sz="2000" spc="-45" dirty="0"/>
              <a:t> </a:t>
            </a:r>
            <a:r>
              <a:rPr sz="2000" spc="-20" dirty="0"/>
              <a:t>make </a:t>
            </a:r>
            <a:r>
              <a:rPr sz="2000" dirty="0"/>
              <a:t>decisions</a:t>
            </a:r>
            <a:r>
              <a:rPr sz="2000" spc="-30" dirty="0"/>
              <a:t> </a:t>
            </a:r>
            <a:r>
              <a:rPr sz="2000" dirty="0"/>
              <a:t>based</a:t>
            </a:r>
            <a:r>
              <a:rPr sz="2000" spc="-35" dirty="0"/>
              <a:t> </a:t>
            </a:r>
            <a:r>
              <a:rPr sz="2000" dirty="0"/>
              <a:t>on</a:t>
            </a:r>
            <a:r>
              <a:rPr sz="2000" spc="-40" dirty="0"/>
              <a:t> </a:t>
            </a:r>
            <a:r>
              <a:rPr sz="2000" dirty="0"/>
              <a:t>that</a:t>
            </a:r>
            <a:r>
              <a:rPr sz="2000" spc="-35" dirty="0"/>
              <a:t> </a:t>
            </a:r>
            <a:r>
              <a:rPr sz="2000" spc="-20" dirty="0"/>
              <a:t>data</a:t>
            </a:r>
            <a:r>
              <a:rPr sz="2000" spc="-20" dirty="0" smtClean="0"/>
              <a:t>.</a:t>
            </a:r>
            <a:endParaRPr sz="2000" spc="-20" dirty="0"/>
          </a:p>
          <a:p>
            <a:pPr marL="355600" marR="247015" indent="-342900">
              <a:lnSpc>
                <a:spcPct val="80000"/>
              </a:lnSpc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sz="2000" b="1" dirty="0">
                <a:cs typeface="Calibri"/>
              </a:rPr>
              <a:t>Application</a:t>
            </a:r>
            <a:r>
              <a:rPr sz="2000" b="1" spc="-70" dirty="0">
                <a:cs typeface="Calibri"/>
              </a:rPr>
              <a:t> </a:t>
            </a:r>
            <a:r>
              <a:rPr sz="2000" b="1" dirty="0">
                <a:cs typeface="Calibri"/>
              </a:rPr>
              <a:t>Layer:</a:t>
            </a:r>
            <a:r>
              <a:rPr sz="2000" b="1" spc="-55" dirty="0">
                <a:cs typeface="Calibri"/>
              </a:rPr>
              <a:t> </a:t>
            </a:r>
            <a:r>
              <a:rPr sz="2000" dirty="0"/>
              <a:t>It</a:t>
            </a:r>
            <a:r>
              <a:rPr sz="2000" spc="-55" dirty="0"/>
              <a:t> </a:t>
            </a:r>
            <a:r>
              <a:rPr sz="2000" dirty="0"/>
              <a:t>includes</a:t>
            </a:r>
            <a:r>
              <a:rPr sz="2000" spc="-45" dirty="0"/>
              <a:t> </a:t>
            </a:r>
            <a:r>
              <a:rPr sz="2000" dirty="0"/>
              <a:t>various</a:t>
            </a:r>
            <a:r>
              <a:rPr sz="2000" spc="-40" dirty="0"/>
              <a:t> </a:t>
            </a:r>
            <a:r>
              <a:rPr sz="2000" spc="-10" dirty="0">
                <a:solidFill>
                  <a:srgbClr val="0033CC"/>
                </a:solidFill>
              </a:rPr>
              <a:t>software </a:t>
            </a:r>
            <a:r>
              <a:rPr sz="2000" dirty="0"/>
              <a:t>and</a:t>
            </a:r>
            <a:r>
              <a:rPr sz="2000" spc="-20" dirty="0"/>
              <a:t> </a:t>
            </a:r>
            <a:r>
              <a:rPr sz="2000" spc="-10" dirty="0">
                <a:solidFill>
                  <a:srgbClr val="0033CC"/>
                </a:solidFill>
              </a:rPr>
              <a:t>applications</a:t>
            </a:r>
            <a:r>
              <a:rPr sz="2000" spc="-35" dirty="0">
                <a:solidFill>
                  <a:srgbClr val="0033CC"/>
                </a:solidFill>
              </a:rPr>
              <a:t> </a:t>
            </a:r>
            <a:r>
              <a:rPr sz="2000" dirty="0"/>
              <a:t>such</a:t>
            </a:r>
            <a:r>
              <a:rPr sz="2000" spc="-10" dirty="0"/>
              <a:t> </a:t>
            </a:r>
            <a:r>
              <a:rPr sz="2000" dirty="0"/>
              <a:t>as</a:t>
            </a:r>
            <a:r>
              <a:rPr sz="2000" spc="-25" dirty="0"/>
              <a:t> </a:t>
            </a:r>
            <a:r>
              <a:rPr sz="2000" dirty="0"/>
              <a:t>mobile</a:t>
            </a:r>
            <a:r>
              <a:rPr sz="2000" spc="-20" dirty="0"/>
              <a:t> </a:t>
            </a:r>
            <a:r>
              <a:rPr sz="2000" dirty="0"/>
              <a:t>apps,</a:t>
            </a:r>
            <a:r>
              <a:rPr sz="2000" spc="-10" dirty="0"/>
              <a:t> </a:t>
            </a:r>
            <a:r>
              <a:rPr sz="2000" spc="-25" dirty="0"/>
              <a:t>web </a:t>
            </a:r>
            <a:r>
              <a:rPr sz="2000" dirty="0"/>
              <a:t>portals,</a:t>
            </a:r>
            <a:r>
              <a:rPr sz="2000" spc="-40" dirty="0"/>
              <a:t> </a:t>
            </a:r>
            <a:r>
              <a:rPr sz="2000" dirty="0"/>
              <a:t>and</a:t>
            </a:r>
            <a:r>
              <a:rPr sz="2000" spc="-35" dirty="0"/>
              <a:t> </a:t>
            </a:r>
            <a:r>
              <a:rPr sz="2000" dirty="0"/>
              <a:t>other</a:t>
            </a:r>
            <a:r>
              <a:rPr sz="2000" spc="-35" dirty="0"/>
              <a:t> </a:t>
            </a:r>
            <a:r>
              <a:rPr sz="2000" dirty="0"/>
              <a:t>user</a:t>
            </a:r>
            <a:r>
              <a:rPr sz="2000" spc="-20" dirty="0"/>
              <a:t> </a:t>
            </a:r>
            <a:r>
              <a:rPr sz="2000" spc="-10" dirty="0"/>
              <a:t>interfaces</a:t>
            </a:r>
            <a:r>
              <a:rPr sz="2000" spc="-35" dirty="0"/>
              <a:t> </a:t>
            </a:r>
            <a:r>
              <a:rPr sz="2000" dirty="0"/>
              <a:t>that</a:t>
            </a:r>
            <a:r>
              <a:rPr sz="2000" spc="-35" dirty="0"/>
              <a:t> </a:t>
            </a:r>
            <a:r>
              <a:rPr sz="2000" spc="-25" dirty="0"/>
              <a:t>are </a:t>
            </a:r>
            <a:r>
              <a:rPr sz="2000" dirty="0"/>
              <a:t>designed</a:t>
            </a:r>
            <a:r>
              <a:rPr sz="2000" spc="-50" dirty="0"/>
              <a:t> </a:t>
            </a:r>
            <a:r>
              <a:rPr sz="2000" dirty="0"/>
              <a:t>to</a:t>
            </a:r>
            <a:r>
              <a:rPr sz="2000" spc="-30" dirty="0"/>
              <a:t> </a:t>
            </a:r>
            <a:r>
              <a:rPr sz="2000" spc="-10" dirty="0"/>
              <a:t>interact</a:t>
            </a:r>
            <a:r>
              <a:rPr sz="2000" spc="-40" dirty="0"/>
              <a:t> </a:t>
            </a:r>
            <a:r>
              <a:rPr sz="2000" dirty="0"/>
              <a:t>with</a:t>
            </a:r>
            <a:r>
              <a:rPr sz="2000" spc="-30" dirty="0"/>
              <a:t> </a:t>
            </a:r>
            <a:r>
              <a:rPr sz="2000" dirty="0"/>
              <a:t>the</a:t>
            </a:r>
            <a:r>
              <a:rPr sz="2000" spc="-40" dirty="0"/>
              <a:t> </a:t>
            </a:r>
            <a:r>
              <a:rPr sz="2000" dirty="0"/>
              <a:t>underlying</a:t>
            </a:r>
            <a:r>
              <a:rPr sz="2000" spc="-60" dirty="0"/>
              <a:t> </a:t>
            </a:r>
            <a:r>
              <a:rPr sz="2000" spc="-25" dirty="0"/>
              <a:t>IoT </a:t>
            </a:r>
            <a:r>
              <a:rPr sz="2000" spc="-10" dirty="0"/>
              <a:t>infrastructure.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31-07-</a:t>
            </a:r>
            <a:r>
              <a:rPr spc="-20" dirty="0"/>
              <a:t>2025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pic>
        <p:nvPicPr>
          <p:cNvPr id="4" name="object 4" descr="IoT Architecture Layers and Components. | Download Scientific Diagram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064256"/>
            <a:ext cx="3373210" cy="36636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19836" y="6235395"/>
            <a:ext cx="84054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Source: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Sikder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et</a:t>
            </a:r>
            <a:r>
              <a:rPr sz="900" i="1" spc="-25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al.</a:t>
            </a:r>
            <a:r>
              <a:rPr sz="900" dirty="0">
                <a:latin typeface="Calibri"/>
                <a:cs typeface="Calibri"/>
              </a:rPr>
              <a:t>,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“A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Survey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on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Sensor-</a:t>
            </a:r>
            <a:r>
              <a:rPr sz="900" dirty="0">
                <a:latin typeface="Calibri"/>
                <a:cs typeface="Calibri"/>
              </a:rPr>
              <a:t>based Threats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to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Internet-of-</a:t>
            </a:r>
            <a:r>
              <a:rPr sz="900" dirty="0">
                <a:latin typeface="Calibri"/>
                <a:cs typeface="Calibri"/>
              </a:rPr>
              <a:t>Things</a:t>
            </a:r>
            <a:r>
              <a:rPr sz="900" spc="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(IoT)</a:t>
            </a:r>
            <a:r>
              <a:rPr sz="900" spc="-4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Devices</a:t>
            </a:r>
            <a:r>
              <a:rPr sz="900" spc="-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and</a:t>
            </a:r>
            <a:r>
              <a:rPr sz="900" spc="-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Applications”</a:t>
            </a:r>
            <a:r>
              <a:rPr sz="900" spc="25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IEEE</a:t>
            </a:r>
            <a:r>
              <a:rPr sz="900" i="1" spc="-45" dirty="0">
                <a:latin typeface="Calibri"/>
                <a:cs typeface="Calibri"/>
              </a:rPr>
              <a:t> </a:t>
            </a:r>
            <a:r>
              <a:rPr sz="900" i="1" spc="-10" dirty="0">
                <a:latin typeface="Calibri"/>
                <a:cs typeface="Calibri"/>
              </a:rPr>
              <a:t>Communications</a:t>
            </a:r>
            <a:r>
              <a:rPr sz="900" i="1" spc="10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Surveys</a:t>
            </a:r>
            <a:r>
              <a:rPr sz="900" i="1" spc="-30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&amp;</a:t>
            </a:r>
            <a:r>
              <a:rPr sz="900" i="1" spc="-15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Tutorials</a:t>
            </a:r>
            <a:r>
              <a:rPr sz="900" dirty="0">
                <a:latin typeface="Calibri"/>
                <a:cs typeface="Calibri"/>
              </a:rPr>
              <a:t>,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23(2),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pp.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1125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-</a:t>
            </a:r>
            <a:r>
              <a:rPr sz="900" spc="-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1159,</a:t>
            </a:r>
            <a:r>
              <a:rPr sz="900" spc="-4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2021.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7981" y="558387"/>
            <a:ext cx="78867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Emergence</a:t>
            </a:r>
            <a:r>
              <a:rPr sz="32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sz="32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sz="3200"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31-07-</a:t>
            </a:r>
            <a:r>
              <a:rPr spc="-20" dirty="0"/>
              <a:t>2025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39" y="2177795"/>
            <a:ext cx="2820924" cy="26502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0200" y="1090676"/>
            <a:ext cx="8703945" cy="53511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1400" spc="-25" dirty="0">
                <a:latin typeface="Calibri"/>
                <a:cs typeface="Calibri"/>
              </a:rPr>
              <a:t>However,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basic</a:t>
            </a:r>
            <a:r>
              <a:rPr sz="14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Calibri"/>
                <a:cs typeface="Calibri"/>
              </a:rPr>
              <a:t>3-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r>
              <a:rPr sz="14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commonly</a:t>
            </a:r>
            <a:r>
              <a:rPr sz="14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used</a:t>
            </a:r>
            <a:r>
              <a:rPr sz="14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Calibri"/>
                <a:cs typeface="Calibri"/>
              </a:rPr>
              <a:t>4-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r>
              <a:rPr sz="14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architectures </a:t>
            </a:r>
            <a:r>
              <a:rPr sz="1400" dirty="0">
                <a:latin typeface="Calibri"/>
                <a:cs typeface="Calibri"/>
              </a:rPr>
              <a:t>did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address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many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issues.</a:t>
            </a: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0"/>
              </a:spcBef>
              <a:buFont typeface="Arial MT"/>
              <a:buChar char="•"/>
            </a:pPr>
            <a:endParaRPr sz="1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1400" dirty="0">
                <a:latin typeface="Calibri"/>
                <a:cs typeface="Calibri"/>
              </a:rPr>
              <a:t>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fact,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IoT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did</a:t>
            </a:r>
            <a:r>
              <a:rPr sz="1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</a:t>
            </a:r>
            <a:r>
              <a:rPr sz="1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have</a:t>
            </a:r>
            <a:r>
              <a:rPr sz="1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any</a:t>
            </a:r>
            <a:r>
              <a:rPr sz="1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standard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defined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architecture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working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which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strictly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followed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universally.</a:t>
            </a: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5"/>
              </a:spcBef>
              <a:buFont typeface="Arial MT"/>
              <a:buChar char="•"/>
            </a:pPr>
            <a:endParaRPr sz="1400" dirty="0">
              <a:latin typeface="Calibri"/>
              <a:cs typeface="Calibri"/>
            </a:endParaRPr>
          </a:p>
          <a:p>
            <a:pPr marL="1160145" algn="ctr">
              <a:lnSpc>
                <a:spcPct val="100000"/>
              </a:lnSpc>
            </a:pP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Few</a:t>
            </a:r>
            <a:r>
              <a:rPr sz="1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Existing</a:t>
            </a:r>
            <a:r>
              <a:rPr sz="1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Issues:</a:t>
            </a:r>
            <a:endParaRPr sz="1400" dirty="0">
              <a:latin typeface="Calibri"/>
              <a:cs typeface="Calibri"/>
            </a:endParaRPr>
          </a:p>
          <a:p>
            <a:pPr marL="4512945" lvl="1" indent="-286385">
              <a:lnSpc>
                <a:spcPct val="100000"/>
              </a:lnSpc>
              <a:spcBef>
                <a:spcPts val="1680"/>
              </a:spcBef>
              <a:buFont typeface="Wingdings"/>
              <a:buChar char=""/>
              <a:tabLst>
                <a:tab pos="4512945" algn="l"/>
              </a:tabLst>
            </a:pPr>
            <a:r>
              <a:rPr sz="1400" dirty="0">
                <a:latin typeface="Calibri"/>
                <a:cs typeface="Calibri"/>
              </a:rPr>
              <a:t>Highly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fragmented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marked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limited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33CC"/>
                </a:solidFill>
                <a:latin typeface="Calibri"/>
                <a:cs typeface="Calibri"/>
              </a:rPr>
              <a:t>vendor-</a:t>
            </a:r>
            <a:endParaRPr sz="1400" dirty="0">
              <a:latin typeface="Calibri"/>
              <a:cs typeface="Calibri"/>
            </a:endParaRPr>
          </a:p>
          <a:p>
            <a:pPr marL="4512945">
              <a:lnSpc>
                <a:spcPct val="100000"/>
              </a:lnSpc>
            </a:pPr>
            <a:r>
              <a:rPr sz="1400" dirty="0">
                <a:solidFill>
                  <a:srgbClr val="0033CC"/>
                </a:solidFill>
                <a:latin typeface="Calibri"/>
                <a:cs typeface="Calibri"/>
              </a:rPr>
              <a:t>specific</a:t>
            </a:r>
            <a:r>
              <a:rPr sz="140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33CC"/>
                </a:solidFill>
                <a:latin typeface="Calibri"/>
                <a:cs typeface="Calibri"/>
              </a:rPr>
              <a:t>applications</a:t>
            </a:r>
            <a:endParaRPr sz="1400" dirty="0">
              <a:latin typeface="Calibri"/>
              <a:cs typeface="Calibri"/>
            </a:endParaRPr>
          </a:p>
          <a:p>
            <a:pPr marL="4512945" marR="1217930" lvl="1" indent="-287020">
              <a:lnSpc>
                <a:spcPct val="100000"/>
              </a:lnSpc>
              <a:spcBef>
                <a:spcPts val="1680"/>
              </a:spcBef>
              <a:buFont typeface="Wingdings"/>
              <a:buChar char=""/>
              <a:tabLst>
                <a:tab pos="4512945" algn="l"/>
              </a:tabLst>
            </a:pPr>
            <a:r>
              <a:rPr sz="1400" dirty="0">
                <a:latin typeface="Calibri"/>
                <a:cs typeface="Calibri"/>
              </a:rPr>
              <a:t>Each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application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vertical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contains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own </a:t>
            </a:r>
            <a:r>
              <a:rPr sz="1400" spc="-10" dirty="0">
                <a:latin typeface="Calibri"/>
                <a:cs typeface="Calibri"/>
              </a:rPr>
              <a:t>technologies </a:t>
            </a:r>
            <a:r>
              <a:rPr sz="1400" dirty="0">
                <a:latin typeface="Calibri"/>
                <a:cs typeface="Calibri"/>
              </a:rPr>
              <a:t>without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33CC"/>
                </a:solidFill>
                <a:latin typeface="Calibri"/>
                <a:cs typeface="Calibri"/>
              </a:rPr>
              <a:t>interoperability</a:t>
            </a:r>
            <a:endParaRPr sz="1400" dirty="0">
              <a:latin typeface="Calibri"/>
              <a:cs typeface="Calibri"/>
            </a:endParaRPr>
          </a:p>
          <a:p>
            <a:pPr marL="4512945" lvl="1" indent="-286385">
              <a:lnSpc>
                <a:spcPct val="100000"/>
              </a:lnSpc>
              <a:spcBef>
                <a:spcPts val="1680"/>
              </a:spcBef>
              <a:buFont typeface="Wingdings"/>
              <a:buChar char=""/>
              <a:tabLst>
                <a:tab pos="4512945" algn="l"/>
              </a:tabLst>
            </a:pPr>
            <a:r>
              <a:rPr sz="1400" spc="-10" dirty="0">
                <a:solidFill>
                  <a:srgbClr val="0033CC"/>
                </a:solidFill>
                <a:latin typeface="Calibri"/>
                <a:cs typeface="Calibri"/>
              </a:rPr>
              <a:t>Incompatibility</a:t>
            </a:r>
            <a:r>
              <a:rPr sz="1400" spc="1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seamless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integration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between</a:t>
            </a:r>
            <a:endParaRPr sz="1400" dirty="0">
              <a:latin typeface="Calibri"/>
              <a:cs typeface="Calibri"/>
            </a:endParaRPr>
          </a:p>
          <a:p>
            <a:pPr marL="4512945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heterogeneous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applications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devices</a:t>
            </a:r>
            <a:endParaRPr sz="1400" dirty="0">
              <a:latin typeface="Calibri"/>
              <a:cs typeface="Calibri"/>
            </a:endParaRPr>
          </a:p>
          <a:p>
            <a:pPr marL="4512945" lvl="1" indent="-286385">
              <a:lnSpc>
                <a:spcPct val="100000"/>
              </a:lnSpc>
              <a:spcBef>
                <a:spcPts val="1685"/>
              </a:spcBef>
              <a:buFont typeface="Wingdings"/>
              <a:buChar char=""/>
              <a:tabLst>
                <a:tab pos="4512945" algn="l"/>
              </a:tabLst>
            </a:pPr>
            <a:r>
              <a:rPr sz="1400" dirty="0">
                <a:latin typeface="Calibri"/>
                <a:cs typeface="Calibri"/>
              </a:rPr>
              <a:t>Did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consider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CC"/>
                </a:solidFill>
                <a:latin typeface="Calibri"/>
                <a:cs typeface="Calibri"/>
              </a:rPr>
              <a:t>security</a:t>
            </a:r>
            <a:r>
              <a:rPr sz="140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aspect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design</a:t>
            </a: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400" dirty="0">
              <a:latin typeface="Calibri"/>
              <a:cs typeface="Calibri"/>
            </a:endParaRPr>
          </a:p>
          <a:p>
            <a:pPr marL="443230" indent="-342900">
              <a:lnSpc>
                <a:spcPct val="100000"/>
              </a:lnSpc>
              <a:buFont typeface="Arial MT"/>
              <a:buChar char="•"/>
              <a:tabLst>
                <a:tab pos="443230" algn="l"/>
              </a:tabLst>
            </a:pPr>
            <a:r>
              <a:rPr sz="1500" dirty="0">
                <a:latin typeface="Calibri"/>
                <a:cs typeface="Calibri"/>
              </a:rPr>
              <a:t>So,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past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several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years,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few</a:t>
            </a:r>
            <a:r>
              <a:rPr sz="1500" spc="-10" dirty="0">
                <a:latin typeface="Calibri"/>
                <a:cs typeface="Calibri"/>
              </a:rPr>
              <a:t> architectural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standards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frameworks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have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emerged</a:t>
            </a:r>
            <a:endParaRPr sz="1500" dirty="0">
              <a:latin typeface="Calibri"/>
              <a:cs typeface="Calibri"/>
            </a:endParaRPr>
          </a:p>
          <a:p>
            <a:pPr marL="443230" indent="-342900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443230" algn="l"/>
              </a:tabLst>
            </a:pPr>
            <a:r>
              <a:rPr sz="1500" spc="-20" dirty="0">
                <a:latin typeface="Calibri"/>
                <a:cs typeface="Calibri"/>
              </a:rPr>
              <a:t>Two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best-</a:t>
            </a:r>
            <a:r>
              <a:rPr sz="1500" dirty="0">
                <a:latin typeface="Calibri"/>
                <a:cs typeface="Calibri"/>
              </a:rPr>
              <a:t>known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architectures:</a:t>
            </a:r>
            <a:endParaRPr sz="1500" dirty="0">
              <a:latin typeface="Calibri"/>
              <a:cs typeface="Calibri"/>
            </a:endParaRPr>
          </a:p>
          <a:p>
            <a:pPr marL="843915" lvl="1" indent="-286385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843915" algn="l"/>
              </a:tabLst>
            </a:pPr>
            <a:r>
              <a:rPr sz="1300" dirty="0">
                <a:solidFill>
                  <a:srgbClr val="0033CC"/>
                </a:solidFill>
                <a:latin typeface="Calibri"/>
                <a:cs typeface="Calibri"/>
              </a:rPr>
              <a:t>oneM2M</a:t>
            </a:r>
            <a:r>
              <a:rPr sz="130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033CC"/>
                </a:solidFill>
                <a:latin typeface="Calibri"/>
                <a:cs typeface="Calibri"/>
              </a:rPr>
              <a:t>architecture</a:t>
            </a:r>
            <a:endParaRPr sz="1300" dirty="0">
              <a:latin typeface="Calibri"/>
              <a:cs typeface="Calibri"/>
            </a:endParaRPr>
          </a:p>
          <a:p>
            <a:pPr marL="843915" lvl="1" indent="-286385">
              <a:lnSpc>
                <a:spcPct val="100000"/>
              </a:lnSpc>
              <a:buFont typeface="Arial MT"/>
              <a:buChar char="–"/>
              <a:tabLst>
                <a:tab pos="843915" algn="l"/>
              </a:tabLst>
            </a:pPr>
            <a:r>
              <a:rPr sz="1300" dirty="0">
                <a:solidFill>
                  <a:srgbClr val="0033CC"/>
                </a:solidFill>
                <a:latin typeface="Calibri"/>
                <a:cs typeface="Calibri"/>
              </a:rPr>
              <a:t>IoT</a:t>
            </a:r>
            <a:r>
              <a:rPr sz="130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033CC"/>
                </a:solidFill>
                <a:latin typeface="Calibri"/>
                <a:cs typeface="Calibri"/>
              </a:rPr>
              <a:t>World</a:t>
            </a:r>
            <a:r>
              <a:rPr sz="130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033CC"/>
                </a:solidFill>
                <a:latin typeface="Calibri"/>
                <a:cs typeface="Calibri"/>
              </a:rPr>
              <a:t>Forum</a:t>
            </a:r>
            <a:r>
              <a:rPr sz="130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0033CC"/>
                </a:solidFill>
                <a:latin typeface="Calibri"/>
                <a:cs typeface="Calibri"/>
              </a:rPr>
              <a:t>architecture</a:t>
            </a:r>
            <a:endParaRPr sz="1300" dirty="0">
              <a:latin typeface="Calibri"/>
              <a:cs typeface="Calibri"/>
            </a:endParaRPr>
          </a:p>
          <a:p>
            <a:pPr marL="5414010">
              <a:lnSpc>
                <a:spcPct val="100000"/>
              </a:lnSpc>
              <a:spcBef>
                <a:spcPts val="335"/>
              </a:spcBef>
            </a:pPr>
            <a:r>
              <a:rPr sz="1000" dirty="0">
                <a:latin typeface="Calibri"/>
                <a:cs typeface="Calibri"/>
              </a:rPr>
              <a:t>Source:</a:t>
            </a:r>
            <a:r>
              <a:rPr sz="1000" spc="70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https://onem2m.org/using-onem2m/developers/basics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04681" y="6629196"/>
            <a:ext cx="102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373481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oneM2M</a:t>
            </a:r>
            <a:r>
              <a:rPr b="1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31-07-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299709" y="1038225"/>
            <a:ext cx="2854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Challenges</a:t>
            </a:r>
            <a:r>
              <a:rPr sz="18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1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IoT</a:t>
            </a:r>
            <a:r>
              <a:rPr sz="18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Architecture: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99709" y="1314017"/>
            <a:ext cx="3293110" cy="88201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354965" algn="l"/>
              </a:tabLst>
            </a:pPr>
            <a:r>
              <a:rPr sz="1700" spc="-10" dirty="0">
                <a:latin typeface="Calibri"/>
                <a:cs typeface="Calibri"/>
              </a:rPr>
              <a:t>heterogeneity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devices,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10"/>
              </a:spcBef>
              <a:buFont typeface="Arial MT"/>
              <a:buChar char="•"/>
              <a:tabLst>
                <a:tab pos="354965" algn="l"/>
              </a:tabLst>
            </a:pPr>
            <a:r>
              <a:rPr sz="1700" spc="-10" dirty="0">
                <a:latin typeface="Calibri"/>
                <a:cs typeface="Calibri"/>
              </a:rPr>
              <a:t>heterogeneity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software,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354965" algn="l"/>
              </a:tabLst>
            </a:pPr>
            <a:r>
              <a:rPr sz="1700" spc="-10" dirty="0">
                <a:latin typeface="Calibri"/>
                <a:cs typeface="Calibri"/>
              </a:rPr>
              <a:t>Heterogeneity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access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methods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6555" y="5093970"/>
            <a:ext cx="850392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smart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building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case,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33CC"/>
                </a:solidFill>
                <a:latin typeface="Calibri"/>
                <a:cs typeface="Calibri"/>
              </a:rPr>
              <a:t>security</a:t>
            </a:r>
            <a:r>
              <a:rPr sz="1600" spc="-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33CC"/>
                </a:solidFill>
                <a:latin typeface="Calibri"/>
                <a:cs typeface="Calibri"/>
              </a:rPr>
              <a:t>application</a:t>
            </a:r>
            <a:r>
              <a:rPr sz="160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detect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nobody 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building.</a:t>
            </a: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354965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could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33CC"/>
                </a:solidFill>
                <a:latin typeface="Calibri"/>
                <a:cs typeface="Calibri"/>
              </a:rPr>
              <a:t>trigger</a:t>
            </a:r>
            <a:r>
              <a:rPr sz="160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33CC"/>
                </a:solidFill>
                <a:latin typeface="Calibri"/>
                <a:cs typeface="Calibri"/>
              </a:rPr>
              <a:t>lights</a:t>
            </a:r>
            <a:r>
              <a:rPr sz="160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switched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0033CC"/>
                </a:solidFill>
                <a:latin typeface="Calibri"/>
                <a:cs typeface="Calibri"/>
              </a:rPr>
              <a:t>HVAC</a:t>
            </a:r>
            <a:r>
              <a:rPr sz="160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33CC"/>
                </a:solidFill>
                <a:latin typeface="Calibri"/>
                <a:cs typeface="Calibri"/>
              </a:rPr>
              <a:t>system</a:t>
            </a:r>
            <a:r>
              <a:rPr sz="160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operate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reduced</a:t>
            </a:r>
            <a:endParaRPr sz="16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setting.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5376" y="2699004"/>
            <a:ext cx="5413248" cy="21381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8818" y="6219240"/>
            <a:ext cx="36480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libri"/>
                <a:cs typeface="Calibri"/>
              </a:rPr>
              <a:t>Image</a:t>
            </a:r>
            <a:r>
              <a:rPr sz="1000" spc="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Source:</a:t>
            </a:r>
            <a:r>
              <a:rPr sz="1000" spc="30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https://onem2m.org/using-onem2m/developers/basics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437" y="983360"/>
            <a:ext cx="3973829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Goal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1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oneM2M</a:t>
            </a: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architecture</a:t>
            </a:r>
            <a:r>
              <a:rPr sz="1800" spc="-10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to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CC"/>
                </a:solidFill>
                <a:latin typeface="Calibri"/>
                <a:cs typeface="Calibri"/>
              </a:rPr>
              <a:t>common</a:t>
            </a:r>
            <a:r>
              <a:rPr sz="180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CC"/>
                </a:solidFill>
                <a:latin typeface="Calibri"/>
                <a:cs typeface="Calibri"/>
              </a:rPr>
              <a:t>services</a:t>
            </a:r>
            <a:r>
              <a:rPr sz="180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33CC"/>
                </a:solidFill>
                <a:latin typeface="Calibri"/>
                <a:cs typeface="Calibri"/>
              </a:rPr>
              <a:t>layer</a:t>
            </a:r>
            <a:r>
              <a:rPr sz="1800" spc="-10" dirty="0">
                <a:latin typeface="Calibri"/>
                <a:cs typeface="Calibri"/>
              </a:rPr>
              <a:t>,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readily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CC"/>
                </a:solidFill>
                <a:latin typeface="Calibri"/>
                <a:cs typeface="Calibri"/>
              </a:rPr>
              <a:t>embedded</a:t>
            </a:r>
            <a:r>
              <a:rPr sz="180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180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33CC"/>
                </a:solidFill>
                <a:latin typeface="Calibri"/>
                <a:cs typeface="Calibri"/>
              </a:rPr>
              <a:t>field </a:t>
            </a:r>
            <a:r>
              <a:rPr sz="1800" b="1" dirty="0">
                <a:solidFill>
                  <a:srgbClr val="0033CC"/>
                </a:solidFill>
                <a:latin typeface="Calibri"/>
                <a:cs typeface="Calibri"/>
              </a:rPr>
              <a:t>devices</a:t>
            </a:r>
            <a:r>
              <a:rPr sz="1800" b="1" spc="-6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allow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communication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with </a:t>
            </a:r>
            <a:r>
              <a:rPr sz="1800" spc="-10" dirty="0">
                <a:latin typeface="Calibri"/>
                <a:cs typeface="Calibri"/>
              </a:rPr>
              <a:t>application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servers.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5002" y="42626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oneM2M</a:t>
            </a:r>
            <a:r>
              <a:rPr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31-07-</a:t>
            </a:r>
            <a:r>
              <a:rPr spc="-20" dirty="0"/>
              <a:t>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59" y="2289121"/>
            <a:ext cx="2700528" cy="38906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40" y="1074165"/>
            <a:ext cx="8124825" cy="51542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Proposed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by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Européen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Télécommunications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</a:t>
            </a:r>
            <a:r>
              <a:rPr sz="2000" spc="-10" dirty="0">
                <a:latin typeface="Times New Roman"/>
                <a:cs typeface="Times New Roman"/>
              </a:rPr>
              <a:t>tandards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Institute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(ETSI)</a:t>
            </a: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oneM2M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architecture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divides</a:t>
            </a:r>
            <a:r>
              <a:rPr sz="20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IoT</a:t>
            </a:r>
            <a:r>
              <a:rPr sz="20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functions</a:t>
            </a:r>
            <a:r>
              <a:rPr sz="20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three</a:t>
            </a:r>
            <a:r>
              <a:rPr sz="200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major</a:t>
            </a:r>
            <a:r>
              <a:rPr sz="200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CC"/>
                </a:solidFill>
                <a:latin typeface="Calibri"/>
                <a:cs typeface="Calibri"/>
              </a:rPr>
              <a:t>domains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755650">
              <a:lnSpc>
                <a:spcPct val="100000"/>
              </a:lnSpc>
              <a:spcBef>
                <a:spcPts val="1250"/>
              </a:spcBef>
            </a:pP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First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800" dirty="0">
              <a:latin typeface="Calibri"/>
              <a:cs typeface="Calibri"/>
            </a:endParaRPr>
          </a:p>
          <a:p>
            <a:pPr marL="4054475" lvl="1" indent="-286385">
              <a:lnSpc>
                <a:spcPct val="100000"/>
              </a:lnSpc>
              <a:buFont typeface="Arial MT"/>
              <a:buChar char="•"/>
              <a:tabLst>
                <a:tab pos="4054475" algn="l"/>
              </a:tabLst>
            </a:pPr>
            <a:r>
              <a:rPr sz="1600" dirty="0">
                <a:solidFill>
                  <a:srgbClr val="0033CC"/>
                </a:solidFill>
                <a:latin typeface="Calibri"/>
                <a:cs typeface="Calibri"/>
              </a:rPr>
              <a:t>Defines</a:t>
            </a:r>
            <a:r>
              <a:rPr sz="160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application-</a:t>
            </a:r>
            <a:r>
              <a:rPr sz="1600" b="1" dirty="0">
                <a:latin typeface="Calibri"/>
                <a:cs typeface="Calibri"/>
              </a:rPr>
              <a:t>layer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protocols</a:t>
            </a:r>
            <a:endParaRPr sz="1600" dirty="0">
              <a:latin typeface="Calibri"/>
              <a:cs typeface="Calibri"/>
            </a:endParaRPr>
          </a:p>
          <a:p>
            <a:pPr marL="4054475" lvl="1" indent="-286385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4054475" algn="l"/>
              </a:tabLst>
            </a:pPr>
            <a:r>
              <a:rPr sz="1600" spc="-10" dirty="0">
                <a:latin typeface="Calibri"/>
                <a:cs typeface="Calibri"/>
              </a:rPr>
              <a:t>Attempts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33CC"/>
                </a:solidFill>
                <a:latin typeface="Calibri"/>
                <a:cs typeface="Calibri"/>
              </a:rPr>
              <a:t>standardize</a:t>
            </a:r>
            <a:r>
              <a:rPr sz="1600" spc="-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northbound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API</a:t>
            </a:r>
            <a:endParaRPr sz="1600" dirty="0">
              <a:latin typeface="Calibri"/>
              <a:cs typeface="Calibri"/>
            </a:endParaRPr>
          </a:p>
          <a:p>
            <a:pPr marL="4225290">
              <a:lnSpc>
                <a:spcPct val="100000"/>
              </a:lnSpc>
              <a:spcBef>
                <a:spcPts val="1695"/>
              </a:spcBef>
            </a:pPr>
            <a:r>
              <a:rPr sz="1400" dirty="0">
                <a:latin typeface="Calibri"/>
                <a:cs typeface="Calibri"/>
              </a:rPr>
              <a:t>API</a:t>
            </a:r>
            <a:r>
              <a:rPr sz="1400" spc="-10" dirty="0">
                <a:latin typeface="Calibri"/>
                <a:cs typeface="Calibri"/>
              </a:rPr>
              <a:t> (Application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Programming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Interface)</a:t>
            </a:r>
            <a:endParaRPr sz="1400" dirty="0">
              <a:latin typeface="Calibri"/>
              <a:cs typeface="Calibri"/>
            </a:endParaRPr>
          </a:p>
          <a:p>
            <a:pPr marL="4225290" marR="5080">
              <a:lnSpc>
                <a:spcPct val="100000"/>
              </a:lnSpc>
              <a:spcBef>
                <a:spcPts val="1680"/>
              </a:spcBef>
            </a:pP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Note: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Interface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thought</a:t>
            </a:r>
            <a:r>
              <a:rPr sz="1400" dirty="0">
                <a:latin typeface="Calibri"/>
                <a:cs typeface="Calibri"/>
              </a:rPr>
              <a:t> of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contract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of </a:t>
            </a:r>
            <a:r>
              <a:rPr sz="1400" dirty="0">
                <a:latin typeface="Calibri"/>
                <a:cs typeface="Calibri"/>
              </a:rPr>
              <a:t>service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between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two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applications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parties.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This </a:t>
            </a:r>
            <a:r>
              <a:rPr sz="1400" spc="-10" dirty="0">
                <a:latin typeface="Calibri"/>
                <a:cs typeface="Calibri"/>
              </a:rPr>
              <a:t>contract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defines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how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two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communicate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each </a:t>
            </a:r>
            <a:r>
              <a:rPr sz="1400" dirty="0">
                <a:latin typeface="Calibri"/>
                <a:cs typeface="Calibri"/>
              </a:rPr>
              <a:t>other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using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requests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responses.</a:t>
            </a: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400" dirty="0">
              <a:latin typeface="Calibri"/>
              <a:cs typeface="Calibri"/>
            </a:endParaRPr>
          </a:p>
          <a:p>
            <a:pPr marL="4054475" marR="74930" lvl="1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054475" algn="l"/>
              </a:tabLst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33CC"/>
                </a:solidFill>
                <a:latin typeface="Calibri"/>
                <a:cs typeface="Calibri"/>
              </a:rPr>
              <a:t>northbound</a:t>
            </a:r>
            <a:r>
              <a:rPr sz="1600" spc="-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33CC"/>
                </a:solidFill>
                <a:latin typeface="Calibri"/>
                <a:cs typeface="Calibri"/>
              </a:rPr>
              <a:t>interface</a:t>
            </a:r>
            <a:r>
              <a:rPr sz="160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allows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particular component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network 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communicate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a </a:t>
            </a:r>
            <a:r>
              <a:rPr sz="1600" spc="-10" dirty="0">
                <a:latin typeface="Calibri"/>
                <a:cs typeface="Calibri"/>
              </a:rPr>
              <a:t>higher-</a:t>
            </a:r>
            <a:r>
              <a:rPr sz="1600" dirty="0">
                <a:latin typeface="Calibri"/>
                <a:cs typeface="Calibri"/>
              </a:rPr>
              <a:t>level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component.</a:t>
            </a:r>
            <a:endParaRPr sz="1600" dirty="0">
              <a:latin typeface="Calibri"/>
              <a:cs typeface="Calibri"/>
            </a:endParaRPr>
          </a:p>
          <a:p>
            <a:pPr marL="4054475" lvl="1" indent="-286385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4054475" algn="l"/>
              </a:tabLst>
            </a:pPr>
            <a:r>
              <a:rPr sz="1600" spc="-10" dirty="0">
                <a:latin typeface="Calibri"/>
                <a:cs typeface="Calibri"/>
              </a:rPr>
              <a:t>Applications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own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sets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33CC"/>
                </a:solidFill>
                <a:latin typeface="Calibri"/>
                <a:cs typeface="Calibri"/>
              </a:rPr>
              <a:t>data</a:t>
            </a:r>
            <a:r>
              <a:rPr sz="160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33CC"/>
                </a:solidFill>
                <a:latin typeface="Calibri"/>
                <a:cs typeface="Calibri"/>
              </a:rPr>
              <a:t>models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392628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oneM2M</a:t>
            </a:r>
            <a:r>
              <a:rPr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31-07-</a:t>
            </a:r>
            <a:r>
              <a:rPr spc="-20" dirty="0"/>
              <a:t>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59" y="2208276"/>
            <a:ext cx="5544312" cy="39715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40" y="1074165"/>
            <a:ext cx="8271509" cy="53035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Proposed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by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Européen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Télécommunications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</a:t>
            </a:r>
            <a:r>
              <a:rPr sz="2000" spc="-10" dirty="0">
                <a:latin typeface="Times New Roman"/>
                <a:cs typeface="Times New Roman"/>
              </a:rPr>
              <a:t>tandards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Institute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(ETSI)</a:t>
            </a: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oneM2M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architecture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divides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IoT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three</a:t>
            </a:r>
            <a:r>
              <a:rPr sz="200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major</a:t>
            </a:r>
            <a:r>
              <a:rPr sz="200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CC"/>
                </a:solidFill>
                <a:latin typeface="Calibri"/>
                <a:cs typeface="Calibri"/>
              </a:rPr>
              <a:t>domains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755650">
              <a:lnSpc>
                <a:spcPct val="100000"/>
              </a:lnSpc>
              <a:spcBef>
                <a:spcPts val="1250"/>
              </a:spcBef>
              <a:tabLst>
                <a:tab pos="3479800" algn="l"/>
              </a:tabLst>
            </a:pP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First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	</a:t>
            </a:r>
            <a:r>
              <a:rPr sz="2700" b="1" spc="-15" baseline="1543" dirty="0">
                <a:solidFill>
                  <a:srgbClr val="C00000"/>
                </a:solidFill>
                <a:latin typeface="Calibri"/>
                <a:cs typeface="Calibri"/>
              </a:rPr>
              <a:t>Second</a:t>
            </a:r>
            <a:endParaRPr sz="2700" baseline="1543" dirty="0">
              <a:latin typeface="Calibri"/>
              <a:cs typeface="Calibri"/>
            </a:endParaRPr>
          </a:p>
          <a:p>
            <a:pPr marL="6071235" marR="189230" lvl="1" indent="-287020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6071235" algn="l"/>
              </a:tabLst>
            </a:pPr>
            <a:r>
              <a:rPr sz="1800" spc="-10" dirty="0">
                <a:solidFill>
                  <a:srgbClr val="0033CC"/>
                </a:solidFill>
                <a:latin typeface="Calibri"/>
                <a:cs typeface="Calibri"/>
              </a:rPr>
              <a:t>horizontal</a:t>
            </a:r>
            <a:r>
              <a:rPr sz="180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33CC"/>
                </a:solidFill>
                <a:latin typeface="Calibri"/>
                <a:cs typeface="Calibri"/>
              </a:rPr>
              <a:t>framework </a:t>
            </a:r>
            <a:r>
              <a:rPr sz="1800" dirty="0">
                <a:latin typeface="Calibri"/>
                <a:cs typeface="Calibri"/>
              </a:rPr>
              <a:t>across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vertical </a:t>
            </a:r>
            <a:r>
              <a:rPr sz="1800" dirty="0">
                <a:latin typeface="Calibri"/>
                <a:cs typeface="Calibri"/>
              </a:rPr>
              <a:t>industry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applications.</a:t>
            </a:r>
            <a:endParaRPr sz="1800" dirty="0">
              <a:latin typeface="Calibri"/>
              <a:cs typeface="Calibri"/>
            </a:endParaRPr>
          </a:p>
          <a:p>
            <a:pPr marL="6070600" lvl="1" indent="-28638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6070600" algn="l"/>
              </a:tabLst>
            </a:pP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Include</a:t>
            </a:r>
            <a:r>
              <a:rPr sz="1800" spc="-10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6528434" marR="5080" lvl="2" indent="-287020">
              <a:lnSpc>
                <a:spcPct val="100000"/>
              </a:lnSpc>
              <a:buFont typeface="Arial MT"/>
              <a:buChar char="•"/>
              <a:tabLst>
                <a:tab pos="6528434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33CC"/>
                </a:solidFill>
                <a:latin typeface="Calibri"/>
                <a:cs typeface="Calibri"/>
              </a:rPr>
              <a:t>physical </a:t>
            </a:r>
            <a:r>
              <a:rPr sz="1800" dirty="0">
                <a:solidFill>
                  <a:srgbClr val="0033CC"/>
                </a:solidFill>
                <a:latin typeface="Calibri"/>
                <a:cs typeface="Calibri"/>
              </a:rPr>
              <a:t>network</a:t>
            </a:r>
            <a:r>
              <a:rPr sz="180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IoT</a:t>
            </a:r>
            <a:r>
              <a:rPr sz="1800" spc="-10" dirty="0">
                <a:latin typeface="Calibri"/>
                <a:cs typeface="Calibri"/>
              </a:rPr>
              <a:t> applications </a:t>
            </a:r>
            <a:r>
              <a:rPr sz="1800" dirty="0">
                <a:latin typeface="Calibri"/>
                <a:cs typeface="Calibri"/>
              </a:rPr>
              <a:t>run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on.</a:t>
            </a:r>
            <a:r>
              <a:rPr sz="1800" spc="-20" dirty="0">
                <a:latin typeface="Calibri"/>
                <a:cs typeface="Calibri"/>
              </a:rPr>
              <a:t> (e.g. </a:t>
            </a:r>
            <a:r>
              <a:rPr sz="1800" dirty="0">
                <a:latin typeface="Calibri"/>
                <a:cs typeface="Calibri"/>
              </a:rPr>
              <a:t>backhaul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network)</a:t>
            </a:r>
            <a:endParaRPr sz="1800" dirty="0">
              <a:latin typeface="Calibri"/>
              <a:cs typeface="Calibri"/>
            </a:endParaRPr>
          </a:p>
          <a:p>
            <a:pPr marL="6528434" marR="381000" lvl="2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6528434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underlying management </a:t>
            </a:r>
            <a:r>
              <a:rPr sz="1800" spc="-10" dirty="0">
                <a:solidFill>
                  <a:srgbClr val="0033CC"/>
                </a:solidFill>
                <a:latin typeface="Calibri"/>
                <a:cs typeface="Calibri"/>
              </a:rPr>
              <a:t>protocols</a:t>
            </a:r>
            <a:endParaRPr sz="1800" dirty="0">
              <a:latin typeface="Calibri"/>
              <a:cs typeface="Calibri"/>
            </a:endParaRPr>
          </a:p>
          <a:p>
            <a:pPr marL="6527800" lvl="2" indent="-286385">
              <a:lnSpc>
                <a:spcPct val="100000"/>
              </a:lnSpc>
              <a:buFont typeface="Arial MT"/>
              <a:buChar char="•"/>
              <a:tabLst>
                <a:tab pos="652780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33CC"/>
                </a:solidFill>
                <a:latin typeface="Calibri"/>
                <a:cs typeface="Calibri"/>
              </a:rPr>
              <a:t>hardware</a:t>
            </a:r>
            <a:endParaRPr sz="1800" dirty="0">
              <a:latin typeface="Calibri"/>
              <a:cs typeface="Calibri"/>
            </a:endParaRPr>
          </a:p>
          <a:p>
            <a:pPr marL="761365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cont…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405434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oneM2M</a:t>
            </a:r>
            <a:r>
              <a:rPr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31-07-</a:t>
            </a:r>
            <a:r>
              <a:rPr spc="-20" dirty="0"/>
              <a:t>2025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59" y="2208276"/>
            <a:ext cx="5544312" cy="39715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40" y="1074165"/>
            <a:ext cx="759650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Proposed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by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European Telecommunications </a:t>
            </a:r>
            <a:r>
              <a:rPr sz="2000" b="1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tandards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Institute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(ETSI)</a:t>
            </a: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oneM2M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architecture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divides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IoT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three</a:t>
            </a:r>
            <a:r>
              <a:rPr sz="200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major</a:t>
            </a:r>
            <a:r>
              <a:rPr sz="200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CC"/>
                </a:solidFill>
                <a:latin typeface="Calibri"/>
                <a:cs typeface="Calibri"/>
              </a:rPr>
              <a:t>domains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07963" y="2007234"/>
            <a:ext cx="263842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8483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top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33CC"/>
                </a:solidFill>
                <a:latin typeface="Calibri"/>
                <a:cs typeface="Calibri"/>
              </a:rPr>
              <a:t>common </a:t>
            </a:r>
            <a:r>
              <a:rPr sz="1800" dirty="0">
                <a:solidFill>
                  <a:srgbClr val="0033CC"/>
                </a:solidFill>
                <a:latin typeface="Calibri"/>
                <a:cs typeface="Calibri"/>
              </a:rPr>
              <a:t>services</a:t>
            </a:r>
            <a:r>
              <a:rPr sz="180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033CC"/>
                </a:solidFill>
                <a:latin typeface="Calibri"/>
                <a:cs typeface="Calibri"/>
              </a:rPr>
              <a:t>layer</a:t>
            </a:r>
            <a:endParaRPr sz="1800">
              <a:latin typeface="Calibri"/>
              <a:cs typeface="Calibri"/>
            </a:endParaRPr>
          </a:p>
          <a:p>
            <a:pPr marL="299085" marR="104139" indent="-287020" algn="just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layer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adds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CC"/>
                </a:solidFill>
                <a:latin typeface="Calibri"/>
                <a:cs typeface="Calibri"/>
              </a:rPr>
              <a:t>APIs</a:t>
            </a:r>
            <a:r>
              <a:rPr sz="180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33CC"/>
                </a:solidFill>
                <a:latin typeface="Calibri"/>
                <a:cs typeface="Calibri"/>
              </a:rPr>
              <a:t>and </a:t>
            </a:r>
            <a:r>
              <a:rPr sz="1800" spc="-10" dirty="0">
                <a:solidFill>
                  <a:srgbClr val="0033CC"/>
                </a:solidFill>
                <a:latin typeface="Calibri"/>
                <a:cs typeface="Calibri"/>
              </a:rPr>
              <a:t>middleware</a:t>
            </a:r>
            <a:r>
              <a:rPr sz="180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supporting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third-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party</a:t>
            </a:r>
            <a:r>
              <a:rPr sz="1800" u="sng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services</a:t>
            </a:r>
            <a:r>
              <a:rPr sz="1800" u="sng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applications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spcBef>
                <a:spcPts val="216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Service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layer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be </a:t>
            </a:r>
            <a:r>
              <a:rPr sz="1800" dirty="0">
                <a:solidFill>
                  <a:srgbClr val="0033CC"/>
                </a:solidFill>
                <a:latin typeface="Calibri"/>
                <a:cs typeface="Calibri"/>
              </a:rPr>
              <a:t>readily</a:t>
            </a:r>
            <a:r>
              <a:rPr sz="1800" spc="-7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CC"/>
                </a:solidFill>
                <a:latin typeface="Calibri"/>
                <a:cs typeface="Calibri"/>
              </a:rPr>
              <a:t>embedded</a:t>
            </a:r>
            <a:r>
              <a:rPr sz="180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within </a:t>
            </a:r>
            <a:r>
              <a:rPr sz="1800" dirty="0">
                <a:latin typeface="Calibri"/>
                <a:cs typeface="Calibri"/>
              </a:rPr>
              <a:t>various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hardware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</a:t>
            </a:r>
            <a:r>
              <a:rPr sz="1800" dirty="0">
                <a:latin typeface="Calibri"/>
                <a:cs typeface="Calibri"/>
              </a:rPr>
              <a:t>software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nodes</a:t>
            </a:r>
            <a:endParaRPr sz="1800">
              <a:latin typeface="Calibri"/>
              <a:cs typeface="Calibri"/>
            </a:endParaRPr>
          </a:p>
          <a:p>
            <a:pPr marL="299085" marR="63500" indent="-28702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RESTful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API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HTTP </a:t>
            </a:r>
            <a:r>
              <a:rPr sz="1800" dirty="0">
                <a:latin typeface="Calibri"/>
                <a:cs typeface="Calibri"/>
              </a:rPr>
              <a:t>requests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40" dirty="0">
                <a:latin typeface="Calibri"/>
                <a:cs typeface="Calibri"/>
              </a:rPr>
              <a:t>GET,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PUT, </a:t>
            </a:r>
            <a:r>
              <a:rPr sz="1800" dirty="0">
                <a:latin typeface="Calibri"/>
                <a:cs typeface="Calibri"/>
              </a:rPr>
              <a:t>POST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DELETE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data</a:t>
            </a:r>
            <a:r>
              <a:rPr sz="1800" spc="-2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9016" y="1842973"/>
            <a:ext cx="34385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36850" algn="l"/>
              </a:tabLst>
            </a:pP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First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	</a:t>
            </a:r>
            <a:r>
              <a:rPr sz="2700" b="1" spc="-15" baseline="1543" dirty="0">
                <a:solidFill>
                  <a:srgbClr val="C00000"/>
                </a:solidFill>
                <a:latin typeface="Calibri"/>
                <a:cs typeface="Calibri"/>
              </a:rPr>
              <a:t>Second</a:t>
            </a:r>
            <a:endParaRPr sz="2700" baseline="1543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3890" y="291515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oneM2M</a:t>
            </a:r>
            <a:r>
              <a:rPr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31-07-</a:t>
            </a:r>
            <a:r>
              <a:rPr spc="-20" dirty="0"/>
              <a:t>2025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59" y="2205227"/>
            <a:ext cx="8136636" cy="397459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40" y="1074165"/>
            <a:ext cx="7596505" cy="1069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Proposed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by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European Telecommunications </a:t>
            </a:r>
            <a:r>
              <a:rPr sz="2000" b="1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tandards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Institute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(ETSI)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oneM2M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architecture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divides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IoT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three</a:t>
            </a:r>
            <a:r>
              <a:rPr sz="200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major</a:t>
            </a:r>
            <a:r>
              <a:rPr sz="200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CC"/>
                </a:solidFill>
                <a:latin typeface="Calibri"/>
                <a:cs typeface="Calibri"/>
              </a:rPr>
              <a:t>domains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755650">
              <a:lnSpc>
                <a:spcPct val="100000"/>
              </a:lnSpc>
              <a:spcBef>
                <a:spcPts val="1250"/>
              </a:spcBef>
              <a:tabLst>
                <a:tab pos="3479800" algn="l"/>
                <a:tab pos="6311900" algn="l"/>
              </a:tabLst>
            </a:pP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First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	</a:t>
            </a:r>
            <a:r>
              <a:rPr sz="2700" b="1" spc="-15" baseline="1543" dirty="0">
                <a:solidFill>
                  <a:srgbClr val="C00000"/>
                </a:solidFill>
                <a:latin typeface="Calibri"/>
                <a:cs typeface="Calibri"/>
              </a:rPr>
              <a:t>Second</a:t>
            </a:r>
            <a:r>
              <a:rPr sz="2700" b="1" baseline="1543" dirty="0">
                <a:solidFill>
                  <a:srgbClr val="C00000"/>
                </a:solidFill>
                <a:latin typeface="Calibri"/>
                <a:cs typeface="Calibri"/>
              </a:rPr>
              <a:t>	</a:t>
            </a:r>
            <a:r>
              <a:rPr sz="2700" b="1" spc="-15" baseline="1543" dirty="0">
                <a:solidFill>
                  <a:srgbClr val="C00000"/>
                </a:solidFill>
                <a:latin typeface="Calibri"/>
                <a:cs typeface="Calibri"/>
              </a:rPr>
              <a:t>Third</a:t>
            </a:r>
            <a:endParaRPr sz="2700" baseline="1543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55711" y="2730500"/>
            <a:ext cx="1191895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IoT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devices,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&amp; </a:t>
            </a:r>
            <a:r>
              <a:rPr sz="1400" spc="-10" dirty="0">
                <a:latin typeface="Calibri"/>
                <a:cs typeface="Calibri"/>
              </a:rPr>
              <a:t>communication network </a:t>
            </a:r>
            <a:r>
              <a:rPr sz="1400" dirty="0">
                <a:latin typeface="Calibri"/>
                <a:cs typeface="Calibri"/>
              </a:rPr>
              <a:t>(802.15.4,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LoRa,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WiFi)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8721" y="377695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IoTWF</a:t>
            </a:r>
            <a:r>
              <a:rPr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b="1" spc="-11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b="1" spc="-85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31-07-</a:t>
            </a:r>
            <a:r>
              <a:rPr spc="-20" dirty="0"/>
              <a:t>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59" y="2859023"/>
            <a:ext cx="5317347" cy="28361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0200" y="1038859"/>
            <a:ext cx="8586470" cy="533146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715010">
              <a:lnSpc>
                <a:spcPct val="80000"/>
              </a:lnSpc>
              <a:spcBef>
                <a:spcPts val="530"/>
              </a:spcBef>
            </a:pPr>
            <a:r>
              <a:rPr sz="1800" dirty="0">
                <a:latin typeface="Calibri"/>
                <a:cs typeface="Calibri"/>
              </a:rPr>
              <a:t>IoTWF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architectural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committee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(led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Cisco,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IBM,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Rockwell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Automation,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others) </a:t>
            </a:r>
            <a:r>
              <a:rPr sz="1800" dirty="0">
                <a:latin typeface="Calibri"/>
                <a:cs typeface="Calibri"/>
              </a:rPr>
              <a:t>aims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-</a:t>
            </a:r>
            <a:endParaRPr sz="1800">
              <a:latin typeface="Calibri"/>
              <a:cs typeface="Calibri"/>
            </a:endParaRPr>
          </a:p>
          <a:p>
            <a:pPr marL="579120" indent="-286385">
              <a:lnSpc>
                <a:spcPct val="100000"/>
              </a:lnSpc>
              <a:spcBef>
                <a:spcPts val="845"/>
              </a:spcBef>
              <a:buFont typeface="Wingdings"/>
              <a:buChar char=""/>
              <a:tabLst>
                <a:tab pos="579120" algn="l"/>
              </a:tabLst>
            </a:pPr>
            <a:r>
              <a:rPr sz="1600" spc="-10" dirty="0">
                <a:latin typeface="Calibri"/>
                <a:cs typeface="Calibri"/>
              </a:rPr>
              <a:t>offers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33CC"/>
                </a:solidFill>
                <a:latin typeface="Calibri"/>
                <a:cs typeface="Calibri"/>
              </a:rPr>
              <a:t>clean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33CC"/>
                </a:solidFill>
                <a:latin typeface="Calibri"/>
                <a:cs typeface="Calibri"/>
              </a:rPr>
              <a:t>simplified</a:t>
            </a:r>
            <a:r>
              <a:rPr sz="160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perspective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IoT</a:t>
            </a:r>
            <a:endParaRPr sz="1600">
              <a:latin typeface="Calibri"/>
              <a:cs typeface="Calibri"/>
            </a:endParaRPr>
          </a:p>
          <a:p>
            <a:pPr marL="579120" indent="-286385">
              <a:lnSpc>
                <a:spcPct val="100000"/>
              </a:lnSpc>
              <a:buFont typeface="Wingdings"/>
              <a:buChar char=""/>
              <a:tabLst>
                <a:tab pos="579120" algn="l"/>
              </a:tabLst>
            </a:pPr>
            <a:r>
              <a:rPr sz="1600" dirty="0">
                <a:solidFill>
                  <a:srgbClr val="0033CC"/>
                </a:solidFill>
                <a:latin typeface="Calibri"/>
                <a:cs typeface="Calibri"/>
              </a:rPr>
              <a:t>includes</a:t>
            </a:r>
            <a:r>
              <a:rPr sz="160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edge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computing,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storage,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access</a:t>
            </a:r>
            <a:endParaRPr sz="1600">
              <a:latin typeface="Calibri"/>
              <a:cs typeface="Calibri"/>
            </a:endParaRPr>
          </a:p>
          <a:p>
            <a:pPr marL="579120" indent="-286385">
              <a:lnSpc>
                <a:spcPct val="100000"/>
              </a:lnSpc>
              <a:buFont typeface="Wingdings"/>
              <a:buChar char=""/>
              <a:tabLst>
                <a:tab pos="579120" algn="l"/>
              </a:tabLst>
            </a:pPr>
            <a:r>
              <a:rPr sz="1600" dirty="0">
                <a:latin typeface="Calibri"/>
                <a:cs typeface="Calibri"/>
              </a:rPr>
              <a:t>concise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visualizing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33CC"/>
                </a:solidFill>
                <a:latin typeface="Calibri"/>
                <a:cs typeface="Calibri"/>
              </a:rPr>
              <a:t>IoT</a:t>
            </a:r>
            <a:r>
              <a:rPr sz="160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33CC"/>
                </a:solidFill>
                <a:latin typeface="Calibri"/>
                <a:cs typeface="Calibri"/>
              </a:rPr>
              <a:t>from</a:t>
            </a:r>
            <a:r>
              <a:rPr sz="160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0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33CC"/>
                </a:solidFill>
                <a:latin typeface="Calibri"/>
                <a:cs typeface="Calibri"/>
              </a:rPr>
              <a:t>technical</a:t>
            </a:r>
            <a:r>
              <a:rPr sz="160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33CC"/>
                </a:solidFill>
                <a:latin typeface="Calibri"/>
                <a:cs typeface="Calibri"/>
              </a:rPr>
              <a:t>perspective</a:t>
            </a:r>
            <a:endParaRPr sz="1600">
              <a:latin typeface="Calibri"/>
              <a:cs typeface="Calibri"/>
            </a:endParaRPr>
          </a:p>
          <a:p>
            <a:pPr marL="6060440" marR="172085" lvl="1" indent="-287020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6060440" algn="l"/>
              </a:tabLst>
            </a:pPr>
            <a:r>
              <a:rPr sz="1600" dirty="0">
                <a:latin typeface="Calibri"/>
                <a:cs typeface="Calibri"/>
              </a:rPr>
              <a:t>Decompose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IoT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problem </a:t>
            </a:r>
            <a:r>
              <a:rPr sz="1600" dirty="0">
                <a:latin typeface="Calibri"/>
                <a:cs typeface="Calibri"/>
              </a:rPr>
              <a:t>into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33CC"/>
                </a:solidFill>
                <a:latin typeface="Calibri"/>
                <a:cs typeface="Calibri"/>
              </a:rPr>
              <a:t>smaller</a:t>
            </a:r>
            <a:r>
              <a:rPr sz="160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0033CC"/>
                </a:solidFill>
                <a:latin typeface="Calibri"/>
                <a:cs typeface="Calibri"/>
              </a:rPr>
              <a:t>parts</a:t>
            </a:r>
            <a:endParaRPr sz="1600">
              <a:latin typeface="Calibri"/>
              <a:cs typeface="Calibri"/>
            </a:endParaRPr>
          </a:p>
          <a:p>
            <a:pPr marL="6060440" lvl="1" indent="-286385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6060440" algn="l"/>
              </a:tabLst>
            </a:pPr>
            <a:r>
              <a:rPr sz="1600" dirty="0">
                <a:latin typeface="Calibri"/>
                <a:cs typeface="Calibri"/>
              </a:rPr>
              <a:t>Identify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different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33CC"/>
                </a:solidFill>
                <a:latin typeface="Calibri"/>
                <a:cs typeface="Calibri"/>
              </a:rPr>
              <a:t>technologies</a:t>
            </a:r>
            <a:endParaRPr sz="1600">
              <a:latin typeface="Calibri"/>
              <a:cs typeface="Calibri"/>
            </a:endParaRPr>
          </a:p>
          <a:p>
            <a:pPr marL="606044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at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layer</a:t>
            </a:r>
            <a:endParaRPr sz="1600">
              <a:latin typeface="Calibri"/>
              <a:cs typeface="Calibri"/>
            </a:endParaRPr>
          </a:p>
          <a:p>
            <a:pPr marL="6060440" marR="5080" lvl="1" indent="-287020">
              <a:lnSpc>
                <a:spcPct val="100000"/>
              </a:lnSpc>
              <a:spcBef>
                <a:spcPts val="1925"/>
              </a:spcBef>
              <a:buFont typeface="Arial MT"/>
              <a:buChar char="•"/>
              <a:tabLst>
                <a:tab pos="6060440" algn="l"/>
              </a:tabLst>
            </a:pPr>
            <a:r>
              <a:rPr sz="1600" spc="-10" dirty="0">
                <a:latin typeface="Calibri"/>
                <a:cs typeface="Calibri"/>
              </a:rPr>
              <a:t>Different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can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provided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33CC"/>
                </a:solidFill>
                <a:latin typeface="Calibri"/>
                <a:cs typeface="Calibri"/>
              </a:rPr>
              <a:t>different vendors</a:t>
            </a:r>
            <a:endParaRPr sz="1600">
              <a:latin typeface="Calibri"/>
              <a:cs typeface="Calibri"/>
            </a:endParaRPr>
          </a:p>
          <a:p>
            <a:pPr marL="6060440" marR="412115" lvl="1" indent="-287020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6060440" algn="l"/>
              </a:tabLst>
            </a:pPr>
            <a:r>
              <a:rPr sz="1600" dirty="0">
                <a:solidFill>
                  <a:srgbClr val="0033CC"/>
                </a:solidFill>
                <a:latin typeface="Calibri"/>
                <a:cs typeface="Calibri"/>
              </a:rPr>
              <a:t>Tiered</a:t>
            </a:r>
            <a:r>
              <a:rPr sz="160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33CC"/>
                </a:solidFill>
                <a:latin typeface="Calibri"/>
                <a:cs typeface="Calibri"/>
              </a:rPr>
              <a:t>security</a:t>
            </a:r>
            <a:r>
              <a:rPr sz="160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model enforced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transition </a:t>
            </a:r>
            <a:r>
              <a:rPr sz="1600" dirty="0">
                <a:latin typeface="Calibri"/>
                <a:cs typeface="Calibri"/>
              </a:rPr>
              <a:t>points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between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levels</a:t>
            </a:r>
            <a:endParaRPr sz="1600">
              <a:latin typeface="Calibri"/>
              <a:cs typeface="Calibri"/>
            </a:endParaRPr>
          </a:p>
          <a:p>
            <a:pPr marL="6060440" lvl="1" indent="-286385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6060440" algn="l"/>
              </a:tabLst>
            </a:pPr>
            <a:r>
              <a:rPr sz="1600" dirty="0">
                <a:latin typeface="Calibri"/>
                <a:cs typeface="Calibri"/>
              </a:rPr>
              <a:t>Define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interfaces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leads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</a:t>
            </a:r>
            <a:endParaRPr sz="1600">
              <a:latin typeface="Calibri"/>
              <a:cs typeface="Calibri"/>
            </a:endParaRPr>
          </a:p>
          <a:p>
            <a:pPr marL="606044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rgbClr val="0033CC"/>
                </a:solidFill>
                <a:latin typeface="Calibri"/>
                <a:cs typeface="Calibri"/>
              </a:rPr>
              <a:t>interoperability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  <a:r>
              <a:rPr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000000"/>
                </a:solidFill>
                <a:latin typeface="Calibri"/>
                <a:cs typeface="Calibri"/>
              </a:rPr>
              <a:t>Layer</a:t>
            </a:r>
            <a:r>
              <a:rPr b="1"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0000"/>
                </a:solidFill>
                <a:latin typeface="Calibri"/>
                <a:cs typeface="Calibri"/>
              </a:rPr>
              <a:t>1</a:t>
            </a:r>
            <a:r>
              <a:rPr dirty="0">
                <a:solidFill>
                  <a:srgbClr val="000000"/>
                </a:solidFill>
              </a:rPr>
              <a:t>:</a:t>
            </a:r>
            <a:r>
              <a:rPr spc="-95" dirty="0">
                <a:solidFill>
                  <a:srgbClr val="000000"/>
                </a:solidFill>
              </a:rPr>
              <a:t> </a:t>
            </a:r>
            <a:r>
              <a:rPr dirty="0"/>
              <a:t>Physical</a:t>
            </a:r>
            <a:r>
              <a:rPr spc="-95" dirty="0"/>
              <a:t> </a:t>
            </a:r>
            <a:r>
              <a:rPr spc="-10" dirty="0"/>
              <a:t>Devices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Controllers</a:t>
            </a:r>
            <a:r>
              <a:rPr spc="-85" dirty="0"/>
              <a:t> </a:t>
            </a:r>
            <a:r>
              <a:rPr spc="-20" dirty="0"/>
              <a:t>Layer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pc="-20" dirty="0"/>
          </a:p>
          <a:p>
            <a:pPr marL="342900" indent="-342900">
              <a:lnSpc>
                <a:spcPct val="100000"/>
              </a:lnSpc>
              <a:buFont typeface="Arial MT"/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000000"/>
                </a:solidFill>
              </a:rPr>
              <a:t>home</a:t>
            </a:r>
            <a:r>
              <a:rPr sz="1800" spc="-25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of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the</a:t>
            </a:r>
            <a:r>
              <a:rPr sz="1800" spc="-25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“things”</a:t>
            </a:r>
            <a:r>
              <a:rPr sz="1800" spc="-15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in</a:t>
            </a:r>
            <a:r>
              <a:rPr sz="1800" spc="-15" dirty="0">
                <a:solidFill>
                  <a:srgbClr val="000000"/>
                </a:solidFill>
              </a:rPr>
              <a:t> </a:t>
            </a:r>
            <a:r>
              <a:rPr sz="1800" spc="-25" dirty="0">
                <a:solidFill>
                  <a:srgbClr val="000000"/>
                </a:solidFill>
              </a:rPr>
              <a:t>IoT</a:t>
            </a:r>
            <a:endParaRPr sz="1800"/>
          </a:p>
          <a:p>
            <a:pPr>
              <a:lnSpc>
                <a:spcPct val="100000"/>
              </a:lnSpc>
              <a:spcBef>
                <a:spcPts val="830"/>
              </a:spcBef>
              <a:buFont typeface="Arial MT"/>
              <a:buChar char="•"/>
            </a:pPr>
            <a:endParaRPr sz="1800"/>
          </a:p>
          <a:p>
            <a:pPr marL="342900" marR="85090" indent="-343535">
              <a:lnSpc>
                <a:spcPct val="100000"/>
              </a:lnSpc>
              <a:buFont typeface="Arial MT"/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000000"/>
                </a:solidFill>
              </a:rPr>
              <a:t>“things”</a:t>
            </a:r>
            <a:r>
              <a:rPr sz="1800" spc="-6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can</a:t>
            </a:r>
            <a:r>
              <a:rPr sz="1800" spc="-3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be</a:t>
            </a:r>
            <a:r>
              <a:rPr sz="1800" spc="-5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from</a:t>
            </a:r>
            <a:r>
              <a:rPr sz="1800" spc="-50" dirty="0">
                <a:solidFill>
                  <a:srgbClr val="000000"/>
                </a:solidFill>
              </a:rPr>
              <a:t> a </a:t>
            </a:r>
            <a:r>
              <a:rPr sz="1800" dirty="0">
                <a:solidFill>
                  <a:srgbClr val="000000"/>
                </a:solidFill>
              </a:rPr>
              <a:t>microscopic</a:t>
            </a:r>
            <a:r>
              <a:rPr sz="1800" spc="-65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sensors</a:t>
            </a:r>
            <a:r>
              <a:rPr sz="1800" spc="-75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to</a:t>
            </a:r>
            <a:r>
              <a:rPr sz="1800" spc="-75" dirty="0">
                <a:solidFill>
                  <a:srgbClr val="000000"/>
                </a:solidFill>
              </a:rPr>
              <a:t> </a:t>
            </a:r>
            <a:r>
              <a:rPr sz="1800" spc="-20" dirty="0">
                <a:solidFill>
                  <a:srgbClr val="000000"/>
                </a:solidFill>
              </a:rPr>
              <a:t>giant </a:t>
            </a:r>
            <a:r>
              <a:rPr sz="1800" dirty="0">
                <a:solidFill>
                  <a:srgbClr val="000000"/>
                </a:solidFill>
              </a:rPr>
              <a:t>machines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in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a</a:t>
            </a:r>
            <a:r>
              <a:rPr sz="1800" spc="-25" dirty="0">
                <a:solidFill>
                  <a:srgbClr val="000000"/>
                </a:solidFill>
              </a:rPr>
              <a:t> </a:t>
            </a:r>
            <a:r>
              <a:rPr sz="1800" spc="-10" dirty="0">
                <a:solidFill>
                  <a:srgbClr val="000000"/>
                </a:solidFill>
              </a:rPr>
              <a:t>factory</a:t>
            </a:r>
            <a:endParaRPr sz="1800"/>
          </a:p>
          <a:p>
            <a:pPr>
              <a:lnSpc>
                <a:spcPct val="100000"/>
              </a:lnSpc>
              <a:spcBef>
                <a:spcPts val="825"/>
              </a:spcBef>
              <a:buFont typeface="Arial MT"/>
              <a:buChar char="•"/>
            </a:pPr>
            <a:endParaRPr sz="1800"/>
          </a:p>
          <a:p>
            <a:pPr marL="342900" marR="949960" indent="-343535">
              <a:lnSpc>
                <a:spcPct val="100000"/>
              </a:lnSpc>
              <a:buFont typeface="Arial MT"/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000000"/>
                </a:solidFill>
              </a:rPr>
              <a:t>primary</a:t>
            </a:r>
            <a:r>
              <a:rPr sz="1800" spc="-55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function</a:t>
            </a:r>
            <a:r>
              <a:rPr sz="1800" spc="-35" dirty="0">
                <a:solidFill>
                  <a:srgbClr val="000000"/>
                </a:solidFill>
              </a:rPr>
              <a:t> </a:t>
            </a:r>
            <a:r>
              <a:rPr sz="1800" spc="-25" dirty="0">
                <a:solidFill>
                  <a:srgbClr val="000000"/>
                </a:solidFill>
              </a:rPr>
              <a:t>is </a:t>
            </a:r>
            <a:r>
              <a:rPr sz="1800" spc="-10" dirty="0">
                <a:solidFill>
                  <a:srgbClr val="000000"/>
                </a:solidFill>
              </a:rPr>
              <a:t>generating</a:t>
            </a:r>
            <a:r>
              <a:rPr sz="1800" spc="-45" dirty="0">
                <a:solidFill>
                  <a:srgbClr val="000000"/>
                </a:solidFill>
              </a:rPr>
              <a:t> </a:t>
            </a:r>
            <a:r>
              <a:rPr sz="1800" spc="-20" dirty="0">
                <a:solidFill>
                  <a:srgbClr val="000000"/>
                </a:solidFill>
              </a:rPr>
              <a:t>data</a:t>
            </a:r>
            <a:endParaRPr sz="1800"/>
          </a:p>
          <a:p>
            <a:pPr>
              <a:lnSpc>
                <a:spcPct val="100000"/>
              </a:lnSpc>
              <a:spcBef>
                <a:spcPts val="830"/>
              </a:spcBef>
              <a:buFont typeface="Arial MT"/>
              <a:buChar char="•"/>
            </a:pPr>
            <a:endParaRPr sz="1800"/>
          </a:p>
          <a:p>
            <a:pPr marL="342900" marR="397510" indent="-343535" algn="just">
              <a:lnSpc>
                <a:spcPct val="100000"/>
              </a:lnSpc>
              <a:buFont typeface="Arial MT"/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000000"/>
                </a:solidFill>
              </a:rPr>
              <a:t>capable</a:t>
            </a:r>
            <a:r>
              <a:rPr sz="1800" spc="-35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of</a:t>
            </a:r>
            <a:r>
              <a:rPr sz="1800" spc="-5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being</a:t>
            </a:r>
            <a:r>
              <a:rPr sz="1800" spc="-30" dirty="0">
                <a:solidFill>
                  <a:srgbClr val="000000"/>
                </a:solidFill>
              </a:rPr>
              <a:t> </a:t>
            </a:r>
            <a:r>
              <a:rPr sz="1800" spc="-10" dirty="0">
                <a:solidFill>
                  <a:srgbClr val="000000"/>
                </a:solidFill>
              </a:rPr>
              <a:t>queried </a:t>
            </a:r>
            <a:r>
              <a:rPr sz="1800" dirty="0">
                <a:solidFill>
                  <a:srgbClr val="000000"/>
                </a:solidFill>
              </a:rPr>
              <a:t>and/or</a:t>
            </a:r>
            <a:r>
              <a:rPr sz="1800" spc="-45" dirty="0">
                <a:solidFill>
                  <a:srgbClr val="000000"/>
                </a:solidFill>
              </a:rPr>
              <a:t> </a:t>
            </a:r>
            <a:r>
              <a:rPr sz="1800" spc="-10" dirty="0">
                <a:solidFill>
                  <a:srgbClr val="000000"/>
                </a:solidFill>
              </a:rPr>
              <a:t>controlled</a:t>
            </a:r>
            <a:r>
              <a:rPr sz="1800" spc="-45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over</a:t>
            </a:r>
            <a:r>
              <a:rPr sz="1800" spc="-55" dirty="0">
                <a:solidFill>
                  <a:srgbClr val="000000"/>
                </a:solidFill>
              </a:rPr>
              <a:t> </a:t>
            </a:r>
            <a:r>
              <a:rPr sz="1800" spc="-50" dirty="0">
                <a:solidFill>
                  <a:srgbClr val="000000"/>
                </a:solidFill>
              </a:rPr>
              <a:t>a </a:t>
            </a:r>
            <a:r>
              <a:rPr sz="1800" spc="-10" dirty="0">
                <a:solidFill>
                  <a:srgbClr val="000000"/>
                </a:solidFill>
              </a:rPr>
              <a:t>network.</a:t>
            </a:r>
            <a:endParaRPr sz="180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31-07-</a:t>
            </a:r>
            <a:r>
              <a:rPr spc="-20" dirty="0"/>
              <a:t>2025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grpSp>
        <p:nvGrpSpPr>
          <p:cNvPr id="9" name="object 9"/>
          <p:cNvGrpSpPr/>
          <p:nvPr/>
        </p:nvGrpSpPr>
        <p:grpSpPr>
          <a:xfrm>
            <a:off x="4451603" y="1200924"/>
            <a:ext cx="4305935" cy="1057910"/>
            <a:chOff x="4451603" y="1200924"/>
            <a:chExt cx="4305935" cy="105791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7602" y="1251123"/>
              <a:ext cx="4209314" cy="100751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1603" y="1200924"/>
              <a:ext cx="3768852" cy="10027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85715" y="1269491"/>
              <a:ext cx="4137660" cy="93573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585715" y="1269491"/>
            <a:ext cx="4137660" cy="935990"/>
          </a:xfrm>
          <a:prstGeom prst="rect">
            <a:avLst/>
          </a:prstGeom>
          <a:ln w="9144">
            <a:solidFill>
              <a:srgbClr val="46AAC5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00"/>
              </a:spcBef>
            </a:pPr>
            <a:r>
              <a:rPr sz="2400" b="1" spc="-10" dirty="0">
                <a:latin typeface="Calibri"/>
                <a:cs typeface="Calibri"/>
              </a:rPr>
              <a:t>Layer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2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Connectivity</a:t>
            </a:r>
            <a:r>
              <a:rPr sz="2400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endParaRPr sz="2400">
              <a:latin typeface="Calibri"/>
              <a:cs typeface="Calibri"/>
            </a:endParaRPr>
          </a:p>
          <a:p>
            <a:pPr marL="434975" indent="-34290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434975" algn="l"/>
              </a:tabLst>
            </a:pPr>
            <a:r>
              <a:rPr sz="1800" dirty="0">
                <a:latin typeface="Calibri"/>
                <a:cs typeface="Calibri"/>
              </a:rPr>
              <a:t>focus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connectivity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94759" y="2564892"/>
            <a:ext cx="5241036" cy="33848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Fog</a:t>
            </a:r>
            <a:r>
              <a:rPr b="1" spc="-8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31-07-</a:t>
            </a:r>
            <a:r>
              <a:rPr spc="-20" dirty="0"/>
              <a:t>2025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5155" y="3140964"/>
            <a:ext cx="5120640" cy="33048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55438" y="1138809"/>
            <a:ext cx="343027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33CC"/>
                </a:solidFill>
                <a:latin typeface="Calibri"/>
                <a:cs typeface="Calibri"/>
              </a:rPr>
              <a:t>Basic</a:t>
            </a:r>
            <a:r>
              <a:rPr sz="1800" b="1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33CC"/>
                </a:solidFill>
                <a:latin typeface="Calibri"/>
                <a:cs typeface="Calibri"/>
              </a:rPr>
              <a:t>principle</a:t>
            </a:r>
            <a:r>
              <a:rPr sz="1800" b="1" spc="-10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information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processing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initiated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as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early</a:t>
            </a:r>
            <a:r>
              <a:rPr sz="1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as</a:t>
            </a:r>
            <a:r>
              <a:rPr sz="1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close</a:t>
            </a:r>
            <a:r>
              <a:rPr sz="18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edge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network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possible.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8267" y="1576831"/>
            <a:ext cx="3761104" cy="3041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Calibri"/>
                <a:cs typeface="Calibri"/>
              </a:rPr>
              <a:t>Layer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3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Edge</a:t>
            </a:r>
            <a:r>
              <a:rPr sz="22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Computing</a:t>
            </a:r>
            <a:r>
              <a:rPr sz="2200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900" dirty="0">
                <a:latin typeface="Calibri"/>
                <a:cs typeface="Calibri"/>
              </a:rPr>
              <a:t>often</a:t>
            </a:r>
            <a:r>
              <a:rPr sz="1900" spc="-20" dirty="0">
                <a:latin typeface="Calibri"/>
                <a:cs typeface="Calibri"/>
              </a:rPr>
              <a:t> referred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C00000"/>
                </a:solidFill>
                <a:latin typeface="Calibri"/>
                <a:cs typeface="Calibri"/>
              </a:rPr>
              <a:t>“fog”</a:t>
            </a:r>
            <a:r>
              <a:rPr sz="19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</a:tabLst>
            </a:pPr>
            <a:r>
              <a:rPr sz="1900" dirty="0">
                <a:latin typeface="Calibri"/>
                <a:cs typeface="Calibri"/>
              </a:rPr>
              <a:t>emphasis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on</a:t>
            </a:r>
            <a:endParaRPr sz="1900">
              <a:latin typeface="Calibri"/>
              <a:cs typeface="Calibri"/>
            </a:endParaRPr>
          </a:p>
          <a:p>
            <a:pPr marL="756285" marR="638810" lvl="1" indent="-287020">
              <a:lnSpc>
                <a:spcPts val="1620"/>
              </a:lnSpc>
              <a:spcBef>
                <a:spcPts val="409"/>
              </a:spcBef>
              <a:buFont typeface="Arial MT"/>
              <a:buChar char="–"/>
              <a:tabLst>
                <a:tab pos="756285" algn="l"/>
              </a:tabLst>
            </a:pPr>
            <a:r>
              <a:rPr sz="1500" dirty="0">
                <a:solidFill>
                  <a:srgbClr val="0033CC"/>
                </a:solidFill>
                <a:latin typeface="Calibri"/>
                <a:cs typeface="Calibri"/>
              </a:rPr>
              <a:t>Data</a:t>
            </a:r>
            <a:r>
              <a:rPr sz="1500" spc="-6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033CC"/>
                </a:solidFill>
                <a:latin typeface="Calibri"/>
                <a:cs typeface="Calibri"/>
              </a:rPr>
              <a:t>reduction</a:t>
            </a:r>
            <a:r>
              <a:rPr sz="1500" spc="-6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filtering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and </a:t>
            </a:r>
            <a:r>
              <a:rPr sz="1500" dirty="0">
                <a:latin typeface="Calibri"/>
                <a:cs typeface="Calibri"/>
              </a:rPr>
              <a:t>cleaning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up</a:t>
            </a:r>
            <a:endParaRPr sz="15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05"/>
              </a:spcBef>
              <a:buClr>
                <a:srgbClr val="0033CC"/>
              </a:buClr>
              <a:buFont typeface="Arial MT"/>
              <a:buChar char="–"/>
            </a:pPr>
            <a:endParaRPr sz="15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756285" algn="l"/>
              </a:tabLst>
            </a:pPr>
            <a:r>
              <a:rPr sz="1500" spc="-10" dirty="0">
                <a:solidFill>
                  <a:srgbClr val="0033CC"/>
                </a:solidFill>
                <a:latin typeface="Calibri"/>
                <a:cs typeface="Calibri"/>
              </a:rPr>
              <a:t>Reformatting</a:t>
            </a:r>
            <a:r>
              <a:rPr sz="150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033CC"/>
                </a:solidFill>
                <a:latin typeface="Calibri"/>
                <a:cs typeface="Calibri"/>
              </a:rPr>
              <a:t>compressing</a:t>
            </a:r>
            <a:r>
              <a:rPr sz="150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data</a:t>
            </a:r>
            <a:endParaRPr sz="15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30"/>
              </a:spcBef>
              <a:buClr>
                <a:srgbClr val="0033CC"/>
              </a:buClr>
              <a:buFont typeface="Arial MT"/>
              <a:buChar char="–"/>
            </a:pPr>
            <a:endParaRPr sz="1500">
              <a:latin typeface="Calibri"/>
              <a:cs typeface="Calibri"/>
            </a:endParaRPr>
          </a:p>
          <a:p>
            <a:pPr marL="756285" marR="327660" lvl="1" indent="-287020">
              <a:lnSpc>
                <a:spcPts val="1620"/>
              </a:lnSpc>
              <a:buFont typeface="Arial MT"/>
              <a:buChar char="–"/>
              <a:tabLst>
                <a:tab pos="756285" algn="l"/>
              </a:tabLst>
            </a:pPr>
            <a:r>
              <a:rPr sz="1500" dirty="0">
                <a:solidFill>
                  <a:srgbClr val="0033CC"/>
                </a:solidFill>
                <a:latin typeface="Calibri"/>
                <a:cs typeface="Calibri"/>
              </a:rPr>
              <a:t>Initial</a:t>
            </a:r>
            <a:r>
              <a:rPr sz="150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033CC"/>
                </a:solidFill>
                <a:latin typeface="Calibri"/>
                <a:cs typeface="Calibri"/>
              </a:rPr>
              <a:t>processing</a:t>
            </a:r>
            <a:r>
              <a:rPr sz="150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(e.g.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alert generation,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10" dirty="0">
                <a:latin typeface="Calibri"/>
                <a:cs typeface="Calibri"/>
              </a:rPr>
              <a:t> validation,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etc)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35565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</a:t>
            </a:r>
            <a:r>
              <a:rPr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Layers:</a:t>
            </a:r>
            <a:r>
              <a:rPr b="1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  <a:r>
              <a:rPr b="1" spc="-165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4–</a:t>
            </a:r>
            <a:r>
              <a:rPr b="1" spc="-5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31-07-</a:t>
            </a:r>
            <a:r>
              <a:rPr spc="-20" dirty="0"/>
              <a:t>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4475" y="2929763"/>
          <a:ext cx="8642985" cy="3478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3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Layers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Layer</a:t>
                      </a:r>
                      <a:r>
                        <a:rPr sz="18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Accumulation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78460" indent="-28702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Captures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stores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applications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846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Convert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event-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query-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processing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Layer</a:t>
                      </a:r>
                      <a:r>
                        <a:rPr sz="18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Abstraction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378460" indent="-28702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Reconciles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formats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846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Ensures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consistent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semantics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various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sources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846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Confirmation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about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dataset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completeness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37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Layer</a:t>
                      </a:r>
                      <a:r>
                        <a:rPr sz="18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6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Application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78460" indent="-28702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Interpret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software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applications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8460" marR="455295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Applications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monitor,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control,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provide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report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analysing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data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Layer</a:t>
                      </a:r>
                      <a:r>
                        <a:rPr sz="18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7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Collaboration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and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processes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378460" indent="-28702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Consumes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shares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application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information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846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Collaborating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communicating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IoT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information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1975" y="966216"/>
            <a:ext cx="5917184" cy="18729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3961" y="413979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Unified</a:t>
            </a:r>
            <a:r>
              <a:rPr b="1" spc="-6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b="1" spc="-8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31-07-</a:t>
            </a:r>
            <a:r>
              <a:rPr spc="-20" dirty="0"/>
              <a:t>2025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437" y="1014476"/>
            <a:ext cx="7965440" cy="173418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99085" marR="5080" indent="-287020">
              <a:lnSpc>
                <a:spcPct val="80000"/>
              </a:lnSpc>
              <a:spcBef>
                <a:spcPts val="58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highlights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fundamental</a:t>
            </a:r>
            <a:r>
              <a:rPr sz="200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building</a:t>
            </a:r>
            <a:r>
              <a:rPr sz="200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blocks</a:t>
            </a:r>
            <a:r>
              <a:rPr sz="200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are</a:t>
            </a:r>
            <a:r>
              <a:rPr sz="200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common</a:t>
            </a:r>
            <a:r>
              <a:rPr sz="200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most</a:t>
            </a:r>
            <a:r>
              <a:rPr sz="200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33CC"/>
                </a:solidFill>
                <a:latin typeface="Calibri"/>
                <a:cs typeface="Calibri"/>
              </a:rPr>
              <a:t>IoT </a:t>
            </a:r>
            <a:r>
              <a:rPr sz="2000" spc="-10" dirty="0">
                <a:solidFill>
                  <a:srgbClr val="0033CC"/>
                </a:solidFill>
                <a:latin typeface="Calibri"/>
                <a:cs typeface="Calibri"/>
              </a:rPr>
              <a:t>systems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intended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help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IoT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network.</a:t>
            </a:r>
            <a:endParaRPr sz="20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IoT</a:t>
            </a:r>
            <a:r>
              <a:rPr sz="2000" spc="-6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CC"/>
                </a:solidFill>
                <a:latin typeface="Calibri"/>
                <a:cs typeface="Calibri"/>
              </a:rPr>
              <a:t>architectural</a:t>
            </a:r>
            <a:r>
              <a:rPr sz="200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CC"/>
                </a:solidFill>
                <a:latin typeface="Calibri"/>
                <a:cs typeface="Calibri"/>
              </a:rPr>
              <a:t>framework</a:t>
            </a:r>
            <a:r>
              <a:rPr sz="200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presented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parallel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stacks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Core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IoT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Functional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Stack</a:t>
            </a:r>
            <a:endParaRPr sz="1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IoT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Management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Compute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Stack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3264" y="2997707"/>
            <a:ext cx="8522335" cy="3383279"/>
            <a:chOff x="343264" y="2997707"/>
            <a:chExt cx="8522335" cy="338327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3264" y="2997707"/>
              <a:ext cx="2340499" cy="3383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1844" y="3057143"/>
              <a:ext cx="6303263" cy="325374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Lessons</a:t>
            </a:r>
            <a:r>
              <a:rPr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31-07-</a:t>
            </a:r>
            <a:r>
              <a:rPr spc="-20" dirty="0"/>
              <a:t>2025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50442" y="1728597"/>
            <a:ext cx="4584065" cy="3043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What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need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IoT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architecture?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40"/>
              </a:spcBef>
              <a:buFont typeface="Wingdings"/>
              <a:buChar char=""/>
              <a:tabLst>
                <a:tab pos="354965" algn="l"/>
              </a:tabLst>
            </a:pPr>
            <a:r>
              <a:rPr sz="2200" spc="-10" dirty="0">
                <a:latin typeface="Calibri"/>
                <a:cs typeface="Calibri"/>
              </a:rPr>
              <a:t>3-</a:t>
            </a:r>
            <a:r>
              <a:rPr sz="2200" dirty="0">
                <a:latin typeface="Calibri"/>
                <a:cs typeface="Calibri"/>
              </a:rPr>
              <a:t>Layer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4-</a:t>
            </a:r>
            <a:r>
              <a:rPr sz="2200" dirty="0">
                <a:latin typeface="Calibri"/>
                <a:cs typeface="Calibri"/>
              </a:rPr>
              <a:t>Layer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IoT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Architectures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45"/>
              </a:spcBef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About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oneM2M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architecture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40"/>
              </a:spcBef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About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IoT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architecture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40"/>
              </a:spcBef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Unified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IoT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Architecture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9455" y="4888229"/>
            <a:ext cx="75228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Figures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slide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materials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taken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following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sources:</a:t>
            </a:r>
            <a:endParaRPr sz="1800">
              <a:latin typeface="Calibri"/>
              <a:cs typeface="Calibri"/>
            </a:endParaRPr>
          </a:p>
          <a:p>
            <a:pPr marL="393065" marR="55880" indent="-342900">
              <a:lnSpc>
                <a:spcPct val="100000"/>
              </a:lnSpc>
              <a:spcBef>
                <a:spcPts val="2160"/>
              </a:spcBef>
              <a:tabLst>
                <a:tab pos="445134" algn="l"/>
              </a:tabLst>
            </a:pPr>
            <a:r>
              <a:rPr sz="1800" spc="-25" dirty="0">
                <a:latin typeface="Calibri"/>
                <a:cs typeface="Calibri"/>
              </a:rPr>
              <a:t>1.</a:t>
            </a:r>
            <a:r>
              <a:rPr sz="1800" dirty="0">
                <a:latin typeface="Calibri"/>
                <a:cs typeface="Calibri"/>
              </a:rPr>
              <a:t>		David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Hanes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et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al.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“IoT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Fundamentals: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Networking</a:t>
            </a:r>
            <a:r>
              <a:rPr sz="1800" spc="-20" dirty="0">
                <a:latin typeface="Calibri"/>
                <a:cs typeface="Calibri"/>
              </a:rPr>
              <a:t> Technologies,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Protocols,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Cases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Internet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Things”,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baseline="25462" dirty="0">
                <a:latin typeface="Calibri"/>
                <a:cs typeface="Calibri"/>
              </a:rPr>
              <a:t>st</a:t>
            </a:r>
            <a:r>
              <a:rPr sz="1800" spc="150" baseline="25462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Edition,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2018,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Pearson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India.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9009" y="2602147"/>
            <a:ext cx="1928460" cy="184021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31-07-</a:t>
            </a:r>
            <a:r>
              <a:rPr spc="-20" dirty="0"/>
              <a:t>2025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pic>
        <p:nvPicPr>
          <p:cNvPr id="7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67455" y="1632216"/>
            <a:ext cx="1985899" cy="475602"/>
          </a:xfrm>
          <a:prstGeom prst="rect">
            <a:avLst/>
          </a:prstGeom>
        </p:spPr>
      </p:pic>
      <p:pic>
        <p:nvPicPr>
          <p:cNvPr id="8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50764" y="1635251"/>
            <a:ext cx="95885" cy="4698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1170</Words>
  <Application>Microsoft Office PowerPoint</Application>
  <PresentationFormat>On-screen Show (4:3)</PresentationFormat>
  <Paragraphs>205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 MT</vt:lpstr>
      <vt:lpstr>Calibri</vt:lpstr>
      <vt:lpstr>Calibri Light</vt:lpstr>
      <vt:lpstr>Times New Roman</vt:lpstr>
      <vt:lpstr>Wingdings</vt:lpstr>
      <vt:lpstr>Office Theme</vt:lpstr>
      <vt:lpstr>Internet of Things (IoT)</vt:lpstr>
      <vt:lpstr>What is Architectural Plan?</vt:lpstr>
      <vt:lpstr>Basic 3-Layer architecture</vt:lpstr>
      <vt:lpstr>Commonly used 4-Layer architecture</vt:lpstr>
      <vt:lpstr>Emergence of Standard IoT Architecture</vt:lpstr>
      <vt:lpstr>oneM2M Architecture</vt:lpstr>
      <vt:lpstr>oneM2M Architecture</vt:lpstr>
      <vt:lpstr>oneM2M Architecture</vt:lpstr>
      <vt:lpstr>oneM2M Architecture</vt:lpstr>
      <vt:lpstr>oneM2M Architecture</vt:lpstr>
      <vt:lpstr>IoTWF Architecture – 7 Layer Stack</vt:lpstr>
      <vt:lpstr>Layers 1 &amp; 2</vt:lpstr>
      <vt:lpstr>Layer 3 : Fog Layer</vt:lpstr>
      <vt:lpstr>Upper Layers: Layers 4–7</vt:lpstr>
      <vt:lpstr>Unified IoT Architecture</vt:lpstr>
      <vt:lpstr>Lessons Learned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</dc:creator>
  <cp:lastModifiedBy>Uttam Kumar Dey</cp:lastModifiedBy>
  <cp:revision>6</cp:revision>
  <dcterms:created xsi:type="dcterms:W3CDTF">2026-09-15T06:34:12Z</dcterms:created>
  <dcterms:modified xsi:type="dcterms:W3CDTF">2026-09-16T06:27:01Z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2025-07-31T00:00:00Z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2026-09-15T00:00:00Z</vt:filetime>
  </property>
  <property fmtid="{D5CDD505-2E9C-101B-9397-08002B2CF9AE}" pid="6" name="Producer">
    <vt:lpwstr>Microsoft® PowerPoint® 2019</vt:lpwstr>
  </property>
</Properties>
</file>